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66"/>
    <p:restoredTop sz="69330"/>
  </p:normalViewPr>
  <p:slideViewPr>
    <p:cSldViewPr snapToGrid="0" snapToObjects="1">
      <p:cViewPr varScale="1">
        <p:scale>
          <a:sx n="92" d="100"/>
          <a:sy n="92" d="100"/>
        </p:scale>
        <p:origin x="218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8988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&amp; OPENING (2 min)</a:t>
            </a:r>
          </a:p>
          <a:p>
            <a:endParaRPr/>
          </a:p>
          <a:p>
            <a:r>
              <a:t>Welcome to our unit on metal types. Just like we learn to identify different species of wood in woodworking, in metals class we need to be able to identify and understand the properties of different metals — because choosing the wrong metal for a job can mean the difference between a project that lasts a lifetime and one that fails on day one.</a:t>
            </a:r>
          </a:p>
          <a:p>
            <a:endParaRPr/>
          </a:p>
          <a:p>
            <a:r>
              <a:t>Key question to pose: "If I handed you two pieces of metal that looked almost identical, how would you tell them apart?" (Let students brainstorm — weight, magnetism, color, spark test). We'll come back to this.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(1 min)</a:t>
            </a:r>
          </a:p>
          <a:p>
            <a:endParaRPr/>
          </a:p>
          <a:p>
            <a:r>
              <a:t>In woodworking, students learn to tell the difference between hardwoods and softwoods — oak vs. pine, maple vs. cedar. Each one has a color, a grain, a hardness, and a best use.</a:t>
            </a:r>
          </a:p>
          <a:p>
            <a:endParaRPr/>
          </a:p>
          <a:p>
            <a:r>
              <a:t>Metals are the same way. Steel isn't just "steel." Aluminum isn't just "aluminum." There are families, grades, and alloys — and each one behaves differently when you cut it, weld it, bend it, or finish it.</a:t>
            </a:r>
          </a:p>
          <a:p>
            <a:endParaRPr/>
          </a:p>
          <a:p>
            <a:r>
              <a:t>Today we're going to build your metal vocabulary so you can walk into any shop and know what you're working with.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CONCEPTS (5 min)</a:t>
            </a:r>
          </a:p>
          <a:p>
            <a:endParaRPr/>
          </a:p>
          <a:p>
            <a:r>
              <a:t>This is the single most important classification in metals. Write "Ferrous" and "Non-Ferrous" on the board.</a:t>
            </a:r>
          </a:p>
          <a:p>
            <a:endParaRPr/>
          </a:p>
          <a:p>
            <a:r>
              <a:t>Ferrous comes from the Latin word ferrum meaning iron — that's why iron's chemical symbol is Fe. ANY metal that contains iron as its primary ingredient is ferrous.</a:t>
            </a:r>
          </a:p>
          <a:p>
            <a:endParaRPr/>
          </a:p>
          <a:p>
            <a:r>
              <a:t>Quick demo idea: Grab a magnet and walk around the shop. Touch it to different metals. If it sticks = ferrous. If it doesn't = non-ferrous.</a:t>
            </a:r>
          </a:p>
          <a:p>
            <a:endParaRPr/>
          </a:p>
          <a:p>
            <a:r>
              <a:t>Check for understanding: "Is stainless steel ferrous or non-ferrous?" (Trick question — it IS ferrous because it contains iron, but the chromium content prevents rust.)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RELEVANCE CONNECTION (3 min)</a:t>
            </a:r>
          </a:p>
          <a:p>
            <a:endParaRPr/>
          </a:p>
          <a:p>
            <a:r>
              <a:t>This is the "so what?" slide. Metal selection directly affects shop work.</a:t>
            </a:r>
          </a:p>
          <a:p>
            <a:endParaRPr/>
          </a:p>
          <a:p>
            <a:r>
              <a:t>Analogies to woodworking:</a:t>
            </a:r>
          </a:p>
          <a:p>
            <a:r>
              <a:t>- Sanding oak vs. pine = machining stainless vs. aluminum.</a:t>
            </a:r>
          </a:p>
          <a:p>
            <a:r>
              <a:t>- Balsa for a shelf = aluminum where you need steel strength.</a:t>
            </a:r>
          </a:p>
          <a:p>
            <a:endParaRPr/>
          </a:p>
          <a:p>
            <a:r>
              <a:t>Real consequences:</a:t>
            </a:r>
          </a:p>
          <a:p>
            <a:r>
              <a:t>- MIG weld aluminum with steel wire = contaminated weld, scrapped part.</a:t>
            </a:r>
          </a:p>
          <a:p>
            <a:r>
              <a:t>- Lathe speeds for steel on aluminum = clogged tool, bad finish.</a:t>
            </a:r>
          </a:p>
          <a:p>
            <a:r>
              <a:t>- Pick stainless when mild steel works = 3x material cost.</a:t>
            </a:r>
          </a:p>
          <a:p>
            <a:endParaRPr/>
          </a:p>
          <a:p>
            <a:r>
              <a:t>Engagement prompt: "Has anyone tried to drill through something and the drill bit just squealed and smoked? What happened?"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METAL IDENTIFICATION (5 min)</a:t>
            </a:r>
          </a:p>
          <a:p>
            <a:endParaRPr/>
          </a:p>
          <a:p>
            <a:r>
              <a:t>In woodworking, students ID species by grain, color, and smell. Metals use different methods — but the same principle: systematic testing.</a:t>
            </a:r>
          </a:p>
          <a:p>
            <a:endParaRPr/>
          </a:p>
          <a:p>
            <a:r>
              <a:t>MAGNET TEST — always start here. It's the fastest sort into ferrous vs. non-ferrous. Demo: walk around the shop with a magnet.</a:t>
            </a:r>
          </a:p>
          <a:p>
            <a:endParaRPr/>
          </a:p>
          <a:p>
            <a:r>
              <a:t>SPARK TEST — touch metal to bench grinder and observe the spark pattern. This is how experienced machinists ID unknown steel. Safety: wear face shield, keep fingers clear.</a:t>
            </a:r>
          </a:p>
          <a:p>
            <a:r>
              <a:t>- Mild steel: long, white, bushy sparks with lots of carbon forks</a:t>
            </a:r>
          </a:p>
          <a:p>
            <a:r>
              <a:t>- Stainless: short, dark-red, few forks (low carbon)</a:t>
            </a:r>
          </a:p>
          <a:p>
            <a:r>
              <a:t>- Cast iron: short, red, fine streams</a:t>
            </a:r>
          </a:p>
          <a:p>
            <a:r>
              <a:t>- Non-ferrous metals don't spark at all</a:t>
            </a:r>
          </a:p>
          <a:p>
            <a:endParaRPr/>
          </a:p>
          <a:p>
            <a:r>
              <a:t>WEIGHT TEST — have students hold same-size pieces of different metals. The difference between aluminum and steel is dramatic.</a:t>
            </a:r>
          </a:p>
          <a:p>
            <a:endParaRPr/>
          </a:p>
          <a:p>
            <a:r>
              <a:t>VISUAL TEST — color is less reliable than the others (freshly ground surfaces look similar) but mill scale, patina, and surface finish give clues.</a:t>
            </a:r>
          </a:p>
          <a:p>
            <a:endParaRPr/>
          </a:p>
          <a:p>
            <a:r>
              <a:t>Activity idea: Set up a station with 5-6 unmarked metal samples. Students use all four tests to identify each one. Give them a worksheet to record results.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MILD STEEL DEEP DIVE (5 min)</a:t>
            </a:r>
          </a:p>
          <a:p>
            <a:endParaRPr/>
          </a:p>
          <a:p>
            <a:r>
              <a:t>Mild steel is the bread and butter of any metals shop.</a:t>
            </a:r>
          </a:p>
          <a:p>
            <a:endParaRPr/>
          </a:p>
          <a:p>
            <a:r>
              <a:t>Naming: "1018" = AISI/SAE grade. "10" = plain carbon, "18" = 0.18% carbon. "A36" = ASTM structural grade. Most flat bar, angle, and tube in shop is A36.</a:t>
            </a:r>
          </a:p>
          <a:p>
            <a:endParaRPr/>
          </a:p>
          <a:p>
            <a:r>
              <a:t>Identification:</a:t>
            </a:r>
          </a:p>
          <a:p>
            <a:r>
              <a:t>- Silvery grey with dark blue-grey mill scale</a:t>
            </a:r>
          </a:p>
          <a:p>
            <a:r>
              <a:t>- Magnetic — always sticks</a:t>
            </a:r>
          </a:p>
          <a:p>
            <a:r>
              <a:t>- Spark test: long, white, branching with lots of forks</a:t>
            </a:r>
          </a:p>
          <a:p>
            <a:r>
              <a:t>- WILL rust bare. Oil or prime immediately.</a:t>
            </a:r>
          </a:p>
          <a:p>
            <a:endParaRPr/>
          </a:p>
          <a:p>
            <a:r>
              <a:t>In our shop: MIG weld with ER70S-6 wire, C25 gas. Machines beautifully.</a:t>
            </a:r>
          </a:p>
          <a:p>
            <a:endParaRPr/>
          </a:p>
          <a:p>
            <a:r>
              <a:t>Analogy: "Mild steel is to metals what pine is to woodworking."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4140 CHROME-MOLY DEEP DIVE (5 min)</a:t>
            </a:r>
          </a:p>
          <a:p>
            <a:endParaRPr/>
          </a:p>
          <a:p>
            <a:r>
              <a:t>4140 is the step up from mild steel. When a project needs more strength or wear resistance, this is what you reach for.</a:t>
            </a:r>
          </a:p>
          <a:p>
            <a:endParaRPr/>
          </a:p>
          <a:p>
            <a:r>
              <a:t>Naming: "41" = chromium-molybdenum alloy family, "40" = 0.40% carbon. More carbon = harder, less ductile. The chromium and moly add toughness and hardenability.</a:t>
            </a:r>
          </a:p>
          <a:p>
            <a:endParaRPr/>
          </a:p>
          <a:p>
            <a:r>
              <a:t>Key difference from mild steel: 4140 can be HEAT TREATED. You can harden it to Rockwell 55+ then temper it back to the toughness you need. Mild steel can't do this.</a:t>
            </a:r>
          </a:p>
          <a:p>
            <a:endParaRPr/>
          </a:p>
          <a:p>
            <a:r>
              <a:t>In our shop:</a:t>
            </a:r>
          </a:p>
          <a:p>
            <a:r>
              <a:t>- Machines well in the annealed state (buy it annealed)</a:t>
            </a:r>
          </a:p>
          <a:p>
            <a:r>
              <a:t>- Welding: need to preheat to ~400F and slow-cool to prevent cracking</a:t>
            </a:r>
          </a:p>
          <a:p>
            <a:r>
              <a:t>- Used for: axles, shafts, gears, tooling, motorsport parts, roll cage tubes</a:t>
            </a:r>
          </a:p>
          <a:p>
            <a:r>
              <a:t>- 4130 (similar alloy, less carbon) is the go-to for roll cages and bike frames</a:t>
            </a:r>
          </a:p>
          <a:p>
            <a:endParaRPr/>
          </a:p>
          <a:p>
            <a:r>
              <a:t>Analogy: "4140 is the red oak of metals — you pay more, it's harder to work, but the finished product is a cut above."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TOOL STEEL DEEP DIVE (5 min)</a:t>
            </a:r>
          </a:p>
          <a:p>
            <a:endParaRPr/>
          </a:p>
          <a:p>
            <a:r>
              <a:t>Tool steel is what we make our tools FROM. When you need a cutting edge that stays sharp or a die that stamps thousands of parts without deforming.</a:t>
            </a:r>
          </a:p>
          <a:p>
            <a:endParaRPr/>
          </a:p>
          <a:p>
            <a:r>
              <a:t>Naming:</a:t>
            </a:r>
          </a:p>
          <a:p>
            <a:r>
              <a:t>- A2 = air-hardening tool steel. Heat it, let it air cool — it hardens on its own.</a:t>
            </a:r>
          </a:p>
          <a:p>
            <a:r>
              <a:t>- D2 = high-carbon, high-chromium (12%) die steel. Sometimes called semi-stainless.</a:t>
            </a:r>
          </a:p>
          <a:p>
            <a:r>
              <a:t>- O1 = oil-hardening tool steel — quench in oil. Traditional knifemaker's steel.</a:t>
            </a:r>
          </a:p>
          <a:p>
            <a:endParaRPr/>
          </a:p>
          <a:p>
            <a:r>
              <a:t>In our shop:</a:t>
            </a:r>
          </a:p>
          <a:p>
            <a:r>
              <a:t>- Students won't machine hardened tool steel (it would destroy our tooling)</a:t>
            </a:r>
          </a:p>
          <a:p>
            <a:r>
              <a:t>- You CAN machine it in the annealed state, then send it out for heat treatment</a:t>
            </a:r>
          </a:p>
          <a:p>
            <a:r>
              <a:t>- Used for making custom fixtures, punches, stamps, and project components that need wear resistance</a:t>
            </a:r>
          </a:p>
          <a:p>
            <a:endParaRPr/>
          </a:p>
          <a:p>
            <a:r>
              <a:t>Safety: hardened tool steel is BRITTLE. If you drop it, it can crack or chip. Flying chips from tool steel are extremely sharp.</a:t>
            </a:r>
          </a:p>
          <a:p>
            <a:endParaRPr/>
          </a:p>
          <a:p>
            <a:r>
              <a:t>Analogy: "Tool steel is like ebony or cocobolo — you don't use it for everything, but when you need extreme hardness and edge retention, nothing else will do."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CAST IRON DEEP DIVE (5 min)</a:t>
            </a:r>
          </a:p>
          <a:p>
            <a:endParaRPr/>
          </a:p>
          <a:p>
            <a:r>
              <a:t>Cast iron is everywhere in the shop — but not as raw material for student projects. It's what your machines are MADE of.</a:t>
            </a:r>
          </a:p>
          <a:p>
            <a:endParaRPr/>
          </a:p>
          <a:p>
            <a:r>
              <a:t>Why teach it: students need to understand that the lathe bed, the mill table, the vise body — these are all cast iron. It absorbs vibration (dampening), it's extremely rigid, and it machines to a beautiful flat surface.</a:t>
            </a:r>
          </a:p>
          <a:p>
            <a:endParaRPr/>
          </a:p>
          <a:p>
            <a:r>
              <a:t>Types:</a:t>
            </a:r>
          </a:p>
          <a:p>
            <a:r>
              <a:t>- Grey iron: most common. The graphite flakes make it easy to machine (chips come off as powder, not curls). But it's brittle — don't drop a vise!</a:t>
            </a:r>
          </a:p>
          <a:p>
            <a:r>
              <a:t>- Ductile iron: graphite is spheroidal, giving it some flex. Used for pipe fittings.</a:t>
            </a:r>
          </a:p>
          <a:p>
            <a:endParaRPr/>
          </a:p>
          <a:p>
            <a:r>
              <a:t>Identification:</a:t>
            </a:r>
          </a:p>
          <a:p>
            <a:r>
              <a:t>- Very dark grey, rough/sandy texture on unfinished surfaces</a:t>
            </a:r>
          </a:p>
          <a:p>
            <a:r>
              <a:t>- Machined surfaces are smooth, dark grey with a slight sheen</a:t>
            </a:r>
          </a:p>
          <a:p>
            <a:r>
              <a:t>- Spark test: short, red, fine streams — less showy than steel</a:t>
            </a:r>
          </a:p>
          <a:p>
            <a:r>
              <a:t>- Chips are powdery (grey iron) — be careful, they stain everything</a:t>
            </a:r>
          </a:p>
          <a:p>
            <a:endParaRPr/>
          </a:p>
          <a:p>
            <a:r>
              <a:t>Shop rule: NEVER weld cast iron without talking to the instructor first. It requires preheat to 500F+ and special nickel rods. A cold weld WILL crack.</a:t>
            </a:r>
          </a:p>
          <a:p>
            <a:endParaRPr/>
          </a:p>
          <a:p>
            <a:r>
              <a:t>Where you see it: engine blocks, brake rotors, manhole covers, pipe fittings, machine tool frames, woodworking bench vises.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6061 ALUMINUM DEEP DIVE (5 min)</a:t>
            </a:r>
          </a:p>
          <a:p>
            <a:endParaRPr/>
          </a:p>
          <a:p>
            <a:r>
              <a:t>If mild steel is the pine, 6061 aluminum is the poplar — lighter, softer, very versatile.</a:t>
            </a:r>
          </a:p>
          <a:p>
            <a:endParaRPr/>
          </a:p>
          <a:p>
            <a:r>
              <a:t>Naming: "6061" — the "6" means magnesium + silicon. "6061-T6" = heat treated for max strength.</a:t>
            </a:r>
          </a:p>
          <a:p>
            <a:endParaRPr/>
          </a:p>
          <a:p>
            <a:r>
              <a:t>Identification:</a:t>
            </a:r>
          </a:p>
          <a:p>
            <a:r>
              <a:t>- Bright silver-white, much lighter looking than steel</a:t>
            </a:r>
          </a:p>
          <a:p>
            <a:r>
              <a:t>- Pick it up — shockingly light. 1/3 the weight of steel.</a:t>
            </a:r>
          </a:p>
          <a:p>
            <a:r>
              <a:t>- NOT magnetic. No spark on grinder.</a:t>
            </a:r>
          </a:p>
          <a:p>
            <a:endParaRPr/>
          </a:p>
          <a:p>
            <a:r>
              <a:t>In our shop:</a:t>
            </a:r>
          </a:p>
          <a:p>
            <a:r>
              <a:t>- Machines FAST — 2-3x spindle speed vs. steel</a:t>
            </a:r>
          </a:p>
          <a:p>
            <a:r>
              <a:t>- "Gummy" — chips can weld to cutting tool without proper speed/feed</a:t>
            </a:r>
          </a:p>
          <a:p>
            <a:r>
              <a:t>- Welding: aluminum wire, 100% argon, AC (TIG) or special MIG setup</a:t>
            </a:r>
          </a:p>
          <a:p>
            <a:endParaRPr/>
          </a:p>
          <a:p>
            <a:r>
              <a:t>Where you see it: Bike frames, aircraft, phones, laptops, car wheels.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COPPER DEEP DIVE (5 min)</a:t>
            </a:r>
          </a:p>
          <a:p>
            <a:endParaRPr/>
          </a:p>
          <a:p>
            <a:r>
              <a:t>Copper is one of the oldest metals humans have worked — the Copper Age predates the Bronze Age. Students often recognize it from plumbing and electrical work.</a:t>
            </a:r>
          </a:p>
          <a:p>
            <a:endParaRPr/>
          </a:p>
          <a:p>
            <a:r>
              <a:t>Why it matters:</a:t>
            </a:r>
          </a:p>
          <a:p>
            <a:r>
              <a:t>- #1 electrical conductor (after silver). Every wire in this building is copper.</a:t>
            </a:r>
          </a:p>
          <a:p>
            <a:r>
              <a:t>- #1 thermal conductor in common use. That's why pots and pans have copper bottoms.</a:t>
            </a:r>
          </a:p>
          <a:p>
            <a:r>
              <a:t>- Antimicrobial — copper surfaces kill bacteria. Hospital door handles.</a:t>
            </a:r>
          </a:p>
          <a:p>
            <a:endParaRPr/>
          </a:p>
          <a:p>
            <a:r>
              <a:t>Identification:</a:t>
            </a:r>
          </a:p>
          <a:p>
            <a:r>
              <a:t>- Color is unmistakable — reddish-orange, develops green patina over time</a:t>
            </a:r>
          </a:p>
          <a:p>
            <a:r>
              <a:t>- Noticeably HEAVY — denser than steel</a:t>
            </a:r>
          </a:p>
          <a:p>
            <a:r>
              <a:t>- Not magnetic</a:t>
            </a:r>
          </a:p>
          <a:p>
            <a:r>
              <a:t>- Very soft — you can scratch it with a fingernail (pure copper)</a:t>
            </a:r>
          </a:p>
          <a:p>
            <a:endParaRPr/>
          </a:p>
          <a:p>
            <a:r>
              <a:t>In our shop:</a:t>
            </a:r>
          </a:p>
          <a:p>
            <a:r>
              <a:t>- Used for electrical projects, decorative work, art pieces</a:t>
            </a:r>
          </a:p>
          <a:p>
            <a:r>
              <a:t>- Soldering and brazing are more common than welding</a:t>
            </a:r>
          </a:p>
          <a:p>
            <a:r>
              <a:t>- Machining: tends to be gummy. Sharp tools, moderate speed, use cutting fluid.</a:t>
            </a:r>
          </a:p>
          <a:p>
            <a:r>
              <a:t>- Scrap copper has real value — NEVER throw it away</a:t>
            </a:r>
          </a:p>
          <a:p>
            <a:endParaRPr/>
          </a:p>
          <a:p>
            <a:r>
              <a:t>Where you see it: Electrical wiring, plumbing pipes, roofing (Statue of Liberty!), heat exchangers, decorative art, circuit boards.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BRASS DEEP DIVE (5 min)</a:t>
            </a:r>
          </a:p>
          <a:p>
            <a:endParaRPr/>
          </a:p>
          <a:p>
            <a:r>
              <a:t>Brass is a machinist's dream. If you want students to experience what a perfect finish looks like off the lathe, hand them a piece of 360 brass.</a:t>
            </a:r>
          </a:p>
          <a:p>
            <a:endParaRPr/>
          </a:p>
          <a:p>
            <a:r>
              <a:t>Types:</a:t>
            </a:r>
          </a:p>
          <a:p>
            <a:r>
              <a:t>- 360 (free-machining brass): 3% lead added for chip breaking. Creates beautiful, short chips that fly away clean. The gold standard for screw machine parts.</a:t>
            </a:r>
          </a:p>
          <a:p>
            <a:r>
              <a:t>- 260 (cartridge brass): 70/30 copper/zinc. More ductile, used for ammunition, musical instruments, decorative hardware.</a:t>
            </a:r>
          </a:p>
          <a:p>
            <a:endParaRPr/>
          </a:p>
          <a:p>
            <a:r>
              <a:t>Identification:</a:t>
            </a:r>
          </a:p>
          <a:p>
            <a:r>
              <a:t>- Gold/yellow color — impossible to confuse with anything else</a:t>
            </a:r>
          </a:p>
          <a:p>
            <a:r>
              <a:t>- Heavy — noticeably heavier than steel for the same size</a:t>
            </a:r>
          </a:p>
          <a:p>
            <a:r>
              <a:t>- Not magnetic</a:t>
            </a:r>
          </a:p>
          <a:p>
            <a:r>
              <a:t>- Rings like a bell when you tap it (compared to steel's dull clang)</a:t>
            </a:r>
          </a:p>
          <a:p>
            <a:endParaRPr/>
          </a:p>
          <a:p>
            <a:r>
              <a:t>In our shop:</a:t>
            </a:r>
          </a:p>
          <a:p>
            <a:r>
              <a:t>- Lathe projects in brass look incredible with minimal polishing</a:t>
            </a:r>
          </a:p>
          <a:p>
            <a:r>
              <a:t>- Great for decorative hardware, handles, fittings, nameplates</a:t>
            </a:r>
          </a:p>
          <a:p>
            <a:r>
              <a:t>- NON-SPARKING — this is why tools for use around explosives are made from brass</a:t>
            </a:r>
          </a:p>
          <a:p>
            <a:r>
              <a:t>- Scrap brass has good value — keep it separate from steel and aluminum</a:t>
            </a:r>
          </a:p>
          <a:p>
            <a:endParaRPr/>
          </a:p>
          <a:p>
            <a:r>
              <a:t>Where you see it: Door hardware, musical instruments (trumpets!), ammunition casings, plumbing fittings, decorative trim, marine hardware.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TITANIUM DEEP DIVE (5 min)</a:t>
            </a:r>
          </a:p>
          <a:p>
            <a:endParaRPr/>
          </a:p>
          <a:p>
            <a:r>
              <a:t>Titanium is the aerospace wonder metal. Students may not work with it in our shop, but they need to know it exists and why it's special.</a:t>
            </a:r>
          </a:p>
          <a:p>
            <a:endParaRPr/>
          </a:p>
          <a:p>
            <a:r>
              <a:t>Naming: Grade 5 (Ti-6Al-4V) = 6% aluminum, 4% vanadium. This is the most common titanium alloy — used in 50%+ of all titanium applications.</a:t>
            </a:r>
          </a:p>
          <a:p>
            <a:endParaRPr/>
          </a:p>
          <a:p>
            <a:r>
              <a:t>Why it's special:</a:t>
            </a:r>
          </a:p>
          <a:p>
            <a:r>
              <a:t>- As strong as steel at 60% of the weight</a:t>
            </a:r>
          </a:p>
          <a:p>
            <a:r>
              <a:t>- As corrosion-resistant as stainless (better, actually)</a:t>
            </a:r>
          </a:p>
          <a:p>
            <a:r>
              <a:t>- Biocompatible — your body won't reject it (hip replacements, dental implants)</a:t>
            </a:r>
          </a:p>
          <a:p>
            <a:r>
              <a:t>- Heat resistant — jet engines operate at 1000F+</a:t>
            </a:r>
          </a:p>
          <a:p>
            <a:endParaRPr/>
          </a:p>
          <a:p>
            <a:r>
              <a:t>Why it's difficult:</a:t>
            </a:r>
          </a:p>
          <a:p>
            <a:r>
              <a:t>- Generates extreme heat when machined — requires flood coolant</a:t>
            </a:r>
          </a:p>
          <a:p>
            <a:r>
              <a:t>- Work hardens like stainless but worse</a:t>
            </a:r>
          </a:p>
          <a:p>
            <a:r>
              <a:t>- Welding MUST be shielded on BOTH sides — any oxygen contamination turns it brittle</a:t>
            </a:r>
          </a:p>
          <a:p>
            <a:r>
              <a:t>- Expensive: a 1" round bar of Ti-6Al-4V costs what a full stick of mild steel costs</a:t>
            </a:r>
          </a:p>
          <a:p>
            <a:endParaRPr/>
          </a:p>
          <a:p>
            <a:r>
              <a:t>Identification:</a:t>
            </a:r>
          </a:p>
          <a:p>
            <a:r>
              <a:t>- Lighter than steel but heavier than aluminum (distinct "in between" feel)</a:t>
            </a:r>
          </a:p>
          <a:p>
            <a:r>
              <a:t>- Not magnetic</a:t>
            </a:r>
          </a:p>
          <a:p>
            <a:r>
              <a:t>- Spark test: brilliant white sparks (distinctive)</a:t>
            </a:r>
          </a:p>
          <a:p>
            <a:r>
              <a:t>- When ground, can develop blue/purple oxide colors</a:t>
            </a:r>
          </a:p>
          <a:p>
            <a:endParaRPr/>
          </a:p>
          <a:p>
            <a:r>
              <a:t>Where you see it: Aircraft frames, jet engines, surgical implants, high-end bicycle frames, spacecraft, premium watches, golf clubs.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STAINLESS STEEL DEEP DIVE (5 min)</a:t>
            </a:r>
          </a:p>
          <a:p>
            <a:endParaRPr/>
          </a:p>
          <a:p>
            <a:r>
              <a:t>Stainless steel is the most misunderstood metal in the shop.</a:t>
            </a:r>
          </a:p>
          <a:p>
            <a:endParaRPr/>
          </a:p>
          <a:p>
            <a:r>
              <a:t>Naming:</a:t>
            </a:r>
          </a:p>
          <a:p>
            <a:r>
              <a:t>- 304: most common. 18% chromium, 8% nickel ("18-8").</a:t>
            </a:r>
          </a:p>
          <a:p>
            <a:r>
              <a:t>- 316: added molybdenum for marine/medical.</a:t>
            </a:r>
          </a:p>
          <a:p>
            <a:r>
              <a:t>- Chromium (min 10.5%) forms invisible, self-healing protective layer.</a:t>
            </a:r>
          </a:p>
          <a:p>
            <a:endParaRPr/>
          </a:p>
          <a:p>
            <a:r>
              <a:t>Identification:</a:t>
            </a:r>
          </a:p>
          <a:p>
            <a:r>
              <a:t>- Stays bright — no mill scale, no rust.</a:t>
            </a:r>
          </a:p>
          <a:p>
            <a:r>
              <a:t>- Slightly heavier than mild steel.</a:t>
            </a:r>
          </a:p>
          <a:p>
            <a:r>
              <a:t>- Magnet test unreliable — some grades are slightly magnetic.</a:t>
            </a:r>
          </a:p>
          <a:p>
            <a:r>
              <a:t>- Spark test: short, dark-red, very few forks.</a:t>
            </a:r>
          </a:p>
          <a:p>
            <a:endParaRPr/>
          </a:p>
          <a:p>
            <a:r>
              <a:t>Critical shop rules:</a:t>
            </a:r>
          </a:p>
          <a:p>
            <a:r>
              <a:t>- NEVER use tools on stainless that touched carbon steel (cross-contamination = rust spots)</a:t>
            </a:r>
          </a:p>
          <a:p>
            <a:r>
              <a:t>- Keep dedicated stainless tools marked separately</a:t>
            </a:r>
          </a:p>
          <a:p>
            <a:r>
              <a:t>- Work hardens — keep feeds aggressive, tools sharp</a:t>
            </a:r>
          </a:p>
          <a:p>
            <a:endParaRPr/>
          </a:p>
          <a:p>
            <a:r>
              <a:t>Where you see it: Kitchen, food processing, surgical, marine,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MIG WELDING OVERVIEW (5 min)</a:t>
            </a:r>
          </a:p>
          <a:p>
            <a:endParaRPr/>
          </a:p>
          <a:p>
            <a:r>
              <a:t>MIG is the first welding process most students learn.</a:t>
            </a:r>
          </a:p>
          <a:p>
            <a:endParaRPr/>
          </a:p>
          <a:p>
            <a:r>
              <a:t>Explain: "Hot glue gun, but feeds metal wire. Arc is ~6,000F. Shielding gas is an invisible bubble keeping oxygen out."</a:t>
            </a:r>
          </a:p>
          <a:p>
            <a:endParaRPr/>
          </a:p>
          <a:p>
            <a:r>
              <a:t>Key settings:</a:t>
            </a:r>
          </a:p>
          <a:p>
            <a:r>
              <a:t>- Wire speed: filler amount (too much = blobby, too little = no fusion)</a:t>
            </a:r>
          </a:p>
          <a:p>
            <a:r>
              <a:t>- Voltage: arc length and heat</a:t>
            </a:r>
          </a:p>
          <a:p>
            <a:r>
              <a:t>- Travel speed: hardest for beginners</a:t>
            </a:r>
          </a:p>
          <a:p>
            <a:endParaRPr/>
          </a:p>
          <a:p>
            <a:r>
              <a:t>Common mistakes: gun too far, moving too fast, dirty metal, wrong polarity.</a:t>
            </a:r>
          </a:p>
          <a:p>
            <a:endParaRPr/>
          </a:p>
          <a:p>
            <a:r>
              <a:t>Safety: Never look at arc without helmet (min shade 10). Arc eye is no joke.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LATHE TURNING OVERVIEW (5 min)</a:t>
            </a:r>
          </a:p>
          <a:p>
            <a:endParaRPr/>
          </a:p>
          <a:p>
            <a:r>
              <a:t>The lathe: oldest machine tool, still essential.</a:t>
            </a:r>
          </a:p>
          <a:p>
            <a:endParaRPr/>
          </a:p>
          <a:p>
            <a:r>
              <a:t>Key concept: WORK spins, TOOL stays still. Opposite of drill/mill. Because work spins, everything a lathe makes is round.</a:t>
            </a:r>
          </a:p>
          <a:p>
            <a:endParaRPr/>
          </a:p>
          <a:p>
            <a:r>
              <a:t>Speed:</a:t>
            </a:r>
          </a:p>
          <a:p>
            <a:r>
              <a:t>- Aluminum: high RPMs (soft, conducts heat)</a:t>
            </a:r>
          </a:p>
          <a:p>
            <a:r>
              <a:t>- Stainless: LOW RPMs (work-hardens)</a:t>
            </a:r>
          </a:p>
          <a:p>
            <a:r>
              <a:t>- Rule: softer = faster RPM, harder = slower</a:t>
            </a:r>
          </a:p>
          <a:p>
            <a:endParaRPr/>
          </a:p>
          <a:p>
            <a:r>
              <a:t>Safety:</a:t>
            </a:r>
          </a:p>
          <a:p>
            <a:r>
              <a:t>1. NEVER leave chuck key in chuck — projectile</a:t>
            </a:r>
          </a:p>
          <a:p>
            <a:r>
              <a:t>2. No loose clothing, gloves, or jewelry</a:t>
            </a:r>
          </a:p>
          <a:p>
            <a:r>
              <a:t>3. Safety glasses always</a:t>
            </a:r>
          </a:p>
          <a:p>
            <a:r>
              <a:t>4. Stand to side of chuck, not in front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MILLING OVERVIEW (5 min)</a:t>
            </a:r>
          </a:p>
          <a:p>
            <a:endParaRPr/>
          </a:p>
          <a:p>
            <a:r>
              <a:t>The mill makes everything the lathe can't — flat surfaces, square shapes, pockets.</a:t>
            </a:r>
          </a:p>
          <a:p>
            <a:endParaRPr/>
          </a:p>
          <a:p>
            <a:r>
              <a:t>Key concept: TOOL spins, WORK stays still (on movable table). Multiple flutes, each takes a small bite.</a:t>
            </a:r>
          </a:p>
          <a:p>
            <a:endParaRPr/>
          </a:p>
          <a:p>
            <a:r>
              <a:t>Material tips:</a:t>
            </a:r>
          </a:p>
          <a:p>
            <a:r>
              <a:t>- Aluminum: 2-3 flute end mills (chip evacuation)</a:t>
            </a:r>
          </a:p>
          <a:p>
            <a:r>
              <a:t>- Steel: 4 flute, slower RPM</a:t>
            </a:r>
          </a:p>
          <a:p>
            <a:r>
              <a:t>- Stainless: sharp tools critical (dull = work-hardening cycle)</a:t>
            </a:r>
          </a:p>
          <a:p>
            <a:endParaRPr/>
          </a:p>
          <a:p>
            <a:r>
              <a:t>Safety:</a:t>
            </a:r>
          </a:p>
          <a:p>
            <a:r>
              <a:t>- Workpiece MUST be securely clamped</a:t>
            </a:r>
          </a:p>
          <a:p>
            <a:r>
              <a:t>- Chips with brush, never hands</a:t>
            </a:r>
          </a:p>
          <a:p>
            <a:r>
              <a:t>- Safety glasses + face shield for heavy cuts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WOOD-TO-METAL ANALOGY (5 min)</a:t>
            </a:r>
          </a:p>
          <a:p>
            <a:endParaRPr/>
          </a:p>
          <a:p>
            <a:r>
              <a:t>This slide bridges what students already know from woodworking to the new metal vocabulary they're building. Go through each row and ask if anyone has worked with that wood species — then explain how the metal equivalent behaves similarly.</a:t>
            </a:r>
          </a:p>
          <a:p>
            <a:endParaRPr/>
          </a:p>
          <a:p>
            <a:r>
              <a:t>Key teaching points:</a:t>
            </a:r>
          </a:p>
          <a:p>
            <a:r>
              <a:t>- Pine/Mild Steel: "You learn on pine because it's forgiving. Same with mild steel. If you mess up, the material cost is low and the process is easy."</a:t>
            </a:r>
          </a:p>
          <a:p>
            <a:r>
              <a:t>- Poplar/Aluminum: "Both are light, both are versatile, both are softer than their premium cousins."</a:t>
            </a:r>
          </a:p>
          <a:p>
            <a:r>
              <a:t>- Red Oak/4140: "Red oak demands sharp tools and proper technique. So does 4140. But the finished product is noticeably better."</a:t>
            </a:r>
          </a:p>
          <a:p>
            <a:r>
              <a:t>- Cherry/Copper: "Both develop a beautiful patina over time. Both require care to get a great finish."</a:t>
            </a:r>
          </a:p>
          <a:p>
            <a:r>
              <a:t>- Purple Heart/Titanium: "Both are exotic, expensive, and hard — but when someone pulls off a project in either material, it's impressive."</a:t>
            </a:r>
          </a:p>
          <a:p>
            <a:r>
              <a:t>- White Oak/Cast Iron: "Both have been used for structural applications for centuries. Heavy, durable, and not going anywhere."</a:t>
            </a:r>
          </a:p>
          <a:p>
            <a:endParaRPr/>
          </a:p>
          <a:p>
            <a:r>
              <a:t>The difficulty column reinforces the idea of progression: start with beginner materials, build skills, then tackle harder metals as confidence grows.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FERROUS QUICK REFERENCE (3 min)</a:t>
            </a:r>
          </a:p>
          <a:p>
            <a:endParaRPr/>
          </a:p>
          <a:p>
            <a:r>
              <a:t>Walk through the table column by column. Key talking points:</a:t>
            </a:r>
          </a:p>
          <a:p>
            <a:r>
              <a:t>- Mild Steel: best all-around for beginners. Cheap, welds great, machines great.</a:t>
            </a:r>
          </a:p>
          <a:p>
            <a:r>
              <a:t>- 4140: when you need more strength + heat treatability. Motorsport, tooling.</a:t>
            </a:r>
          </a:p>
          <a:p>
            <a:r>
              <a:t>- Tool Steel: extreme hardness. Dies, punches, blades. Don't machine it hardened.</a:t>
            </a:r>
          </a:p>
          <a:p>
            <a:r>
              <a:t>- Cast Iron: excellent machining (powder chips!), but don't try to weld it.</a:t>
            </a:r>
          </a:p>
          <a:p>
            <a:r>
              <a:t>- Stainless: corrosion king, but difficult to machine and expensive.</a:t>
            </a:r>
          </a:p>
          <a:p>
            <a:endParaRPr/>
          </a:p>
          <a:p>
            <a:r>
              <a:t>Activity: "If you're building a go-kart frame on a budget, which column do you pick?" (Mild steel.) "If the frame needs to be heat treated for a racing class?" (4140.)</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NON-FERROUS QUICK REFERENCE (3 min)</a:t>
            </a:r>
          </a:p>
          <a:p>
            <a:endParaRPr/>
          </a:p>
          <a:p>
            <a:r>
              <a:t>Key talking points per column:</a:t>
            </a:r>
          </a:p>
          <a:p>
            <a:r>
              <a:t>- 6061 Aluminum: the lightweight workhorse. When weight matters.</a:t>
            </a:r>
          </a:p>
          <a:p>
            <a:r>
              <a:t>- Copper: electrical/thermal champion. Beautiful but heavy and gummy.</a:t>
            </a:r>
          </a:p>
          <a:p>
            <a:r>
              <a:t>- Brass: the machinist's dream metal. Makes everything look premium.</a:t>
            </a:r>
          </a:p>
          <a:p>
            <a:r>
              <a:t>- Titanium: the exotic — strongest per pound, most corrosion-resistant, most expensive.</a:t>
            </a:r>
          </a:p>
          <a:p>
            <a:endParaRPr/>
          </a:p>
          <a:p>
            <a:r>
              <a:t>Notice ALL non-ferrous metals are non-magnetic. That's your first sort.</a:t>
            </a:r>
          </a:p>
          <a:p>
            <a:endParaRPr/>
          </a:p>
          <a:p>
            <a:r>
              <a:t>Discussion: "You're designing a lightweight drone bracket that needs to survive outdoors. Which column?" (Aluminum for cost/weight. Titanium if budget is unlimited.)</a:t>
            </a:r>
          </a:p>
          <a:p>
            <a:endParaRPr/>
          </a:p>
          <a:p>
            <a:r>
              <a:t>Key takeaway: There's no "best" metal. Only the best metal FOR THE JOB. Every choice is a trade-off between strength, weight, cost, corrosion resistance, and workability.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pic>
        <p:nvPicPr>
          <p:cNvPr id="2" name="Picture 1" descr="title-bg-converted.jpg"/>
          <p:cNvPicPr>
            <a:picLocks noChangeAspect="1"/>
          </p:cNvPicPr>
          <p:nvPr/>
        </p:nvPicPr>
        <p:blipFill>
          <a:blip r:embed="rId3"/>
          <a:stretch>
            <a:fillRect/>
          </a:stretch>
        </p:blipFill>
        <p:spPr>
          <a:xfrm>
            <a:off x="0" y="0"/>
            <a:ext cx="12191695" cy="6858000"/>
          </a:xfrm>
          <a:prstGeom prst="rect">
            <a:avLst/>
          </a:prstGeom>
        </p:spPr>
      </p:pic>
      <p:sp>
        <p:nvSpPr>
          <p:cNvPr id="3" name="Rectangle 2"/>
          <p:cNvSpPr/>
          <p:nvPr/>
        </p:nvSpPr>
        <p:spPr>
          <a:xfrm>
            <a:off x="0" y="387928"/>
            <a:ext cx="12191695" cy="6858000"/>
          </a:xfrm>
          <a:prstGeom prst="rect">
            <a:avLst/>
          </a:prstGeom>
          <a:solidFill>
            <a:srgbClr val="1A1A2E">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011680"/>
            <a:ext cx="10058400" cy="1371600"/>
          </a:xfrm>
          <a:prstGeom prst="rect">
            <a:avLst/>
          </a:prstGeom>
          <a:noFill/>
        </p:spPr>
        <p:txBody>
          <a:bodyPr wrap="square">
            <a:spAutoFit/>
          </a:bodyPr>
          <a:lstStyle/>
          <a:p>
            <a:pPr algn="ctr">
              <a:defRPr sz="6000" b="1">
                <a:solidFill>
                  <a:srgbClr val="F0F0F0"/>
                </a:solidFill>
                <a:latin typeface="Segoe UI"/>
              </a:defRPr>
            </a:pPr>
            <a:r>
              <a:t>Metal Types</a:t>
            </a:r>
          </a:p>
        </p:txBody>
      </p:sp>
      <p:sp>
        <p:nvSpPr>
          <p:cNvPr id="5" name="TextBox 4"/>
          <p:cNvSpPr txBox="1"/>
          <p:nvPr/>
        </p:nvSpPr>
        <p:spPr>
          <a:xfrm>
            <a:off x="914400" y="3474720"/>
            <a:ext cx="10058400" cy="914400"/>
          </a:xfrm>
          <a:prstGeom prst="rect">
            <a:avLst/>
          </a:prstGeom>
          <a:noFill/>
        </p:spPr>
        <p:txBody>
          <a:bodyPr wrap="square">
            <a:spAutoFit/>
          </a:bodyPr>
          <a:lstStyle/>
          <a:p>
            <a:pPr algn="ctr">
              <a:defRPr sz="2800" b="0">
                <a:solidFill>
                  <a:srgbClr val="E2B714"/>
                </a:solidFill>
                <a:latin typeface="Segoe UI"/>
              </a:defRPr>
            </a:pPr>
            <a:r>
              <a:t>Metals &amp; Manufacturing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914400" y="2286000"/>
            <a:ext cx="10058400" cy="1371600"/>
          </a:xfrm>
          <a:prstGeom prst="rect">
            <a:avLst/>
          </a:prstGeom>
          <a:noFill/>
        </p:spPr>
        <p:txBody>
          <a:bodyPr wrap="square">
            <a:spAutoFit/>
          </a:bodyPr>
          <a:lstStyle/>
          <a:p>
            <a:pPr algn="ctr">
              <a:defRPr sz="5200" b="1">
                <a:solidFill>
                  <a:srgbClr val="F0F0F0"/>
                </a:solidFill>
                <a:latin typeface="Segoe UI"/>
              </a:defRPr>
            </a:pPr>
            <a:r>
              <a:t>What About Metal?</a:t>
            </a:r>
          </a:p>
        </p:txBody>
      </p:sp>
      <p:sp>
        <p:nvSpPr>
          <p:cNvPr id="3" name="Rectangle 2"/>
          <p:cNvSpPr/>
          <p:nvPr/>
        </p:nvSpPr>
        <p:spPr>
          <a:xfrm>
            <a:off x="4572000" y="3657600"/>
            <a:ext cx="2743200" cy="38100"/>
          </a:xfrm>
          <a:prstGeom prst="rect">
            <a:avLst/>
          </a:prstGeom>
          <a:solidFill>
            <a:srgbClr val="E2B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731520"/>
          </a:xfrm>
          <a:prstGeom prst="rect">
            <a:avLst/>
          </a:prstGeom>
          <a:noFill/>
        </p:spPr>
        <p:txBody>
          <a:bodyPr wrap="none">
            <a:spAutoFit/>
          </a:bodyPr>
          <a:lstStyle/>
          <a:p>
            <a:pPr>
              <a:defRPr sz="3600" b="1">
                <a:solidFill>
                  <a:srgbClr val="F0F0F0"/>
                </a:solidFill>
                <a:latin typeface="Segoe UI"/>
              </a:defRPr>
            </a:pPr>
            <a:r>
              <a:t>Terms: Ferrous vs. Non-Ferrous</a:t>
            </a:r>
          </a:p>
        </p:txBody>
      </p:sp>
      <p:sp>
        <p:nvSpPr>
          <p:cNvPr id="3" name="Rectangle 2"/>
          <p:cNvSpPr/>
          <p:nvPr/>
        </p:nvSpPr>
        <p:spPr>
          <a:xfrm>
            <a:off x="548640" y="914400"/>
            <a:ext cx="2743200" cy="38100"/>
          </a:xfrm>
          <a:prstGeom prst="rect">
            <a:avLst/>
          </a:prstGeom>
          <a:solidFill>
            <a:srgbClr val="E2B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97280"/>
            <a:ext cx="5029200" cy="457200"/>
          </a:xfrm>
          <a:prstGeom prst="rect">
            <a:avLst/>
          </a:prstGeom>
          <a:noFill/>
        </p:spPr>
        <p:txBody>
          <a:bodyPr wrap="square">
            <a:spAutoFit/>
          </a:bodyPr>
          <a:lstStyle/>
          <a:p>
            <a:pPr algn="l">
              <a:defRPr sz="2800" b="1">
                <a:solidFill>
                  <a:srgbClr val="E2B714"/>
                </a:solidFill>
                <a:latin typeface="Segoe UI"/>
              </a:defRPr>
            </a:pPr>
            <a:r>
              <a:t>Ferrous</a:t>
            </a:r>
          </a:p>
        </p:txBody>
      </p:sp>
      <p:pic>
        <p:nvPicPr>
          <p:cNvPr id="5" name="Picture 4" descr="ferrous-rust.jpg"/>
          <p:cNvPicPr>
            <a:picLocks noChangeAspect="1"/>
          </p:cNvPicPr>
          <p:nvPr/>
        </p:nvPicPr>
        <p:blipFill>
          <a:blip r:embed="rId3"/>
          <a:stretch>
            <a:fillRect/>
          </a:stretch>
        </p:blipFill>
        <p:spPr>
          <a:xfrm>
            <a:off x="548640" y="1645920"/>
            <a:ext cx="5029200" cy="2011680"/>
          </a:xfrm>
          <a:prstGeom prst="rect">
            <a:avLst/>
          </a:prstGeom>
        </p:spPr>
      </p:pic>
      <p:sp>
        <p:nvSpPr>
          <p:cNvPr id="6" name="TextBox 5"/>
          <p:cNvSpPr txBox="1"/>
          <p:nvPr/>
        </p:nvSpPr>
        <p:spPr>
          <a:xfrm>
            <a:off x="548640" y="3749039"/>
            <a:ext cx="5029200" cy="2743200"/>
          </a:xfrm>
          <a:prstGeom prst="rect">
            <a:avLst/>
          </a:prstGeom>
          <a:noFill/>
        </p:spPr>
        <p:txBody>
          <a:bodyPr wrap="square">
            <a:spAutoFit/>
          </a:bodyPr>
          <a:lstStyle/>
          <a:p>
            <a:pPr>
              <a:spcAft>
                <a:spcPts val="600"/>
              </a:spcAft>
            </a:pPr>
            <a:r>
              <a:rPr sz="1500">
                <a:solidFill>
                  <a:srgbClr val="F0F0F0"/>
                </a:solidFill>
                <a:latin typeface="Segoe UI"/>
              </a:rPr>
              <a:t>  Contains iron (Fe)</a:t>
            </a:r>
          </a:p>
          <a:p>
            <a:pPr>
              <a:spcAft>
                <a:spcPts val="600"/>
              </a:spcAft>
            </a:pPr>
            <a:r>
              <a:rPr sz="1500">
                <a:solidFill>
                  <a:srgbClr val="F0F0F0"/>
                </a:solidFill>
                <a:latin typeface="Segoe UI"/>
              </a:rPr>
              <a:t>  Magnetic</a:t>
            </a:r>
          </a:p>
          <a:p>
            <a:pPr>
              <a:spcAft>
                <a:spcPts val="600"/>
              </a:spcAft>
            </a:pPr>
            <a:r>
              <a:rPr sz="1500">
                <a:solidFill>
                  <a:srgbClr val="F0F0F0"/>
                </a:solidFill>
                <a:latin typeface="Segoe UI"/>
              </a:rPr>
              <a:t>  Prone to rust (oxidation)</a:t>
            </a:r>
          </a:p>
          <a:p>
            <a:pPr>
              <a:spcAft>
                <a:spcPts val="600"/>
              </a:spcAft>
            </a:pPr>
            <a:r>
              <a:rPr sz="1500">
                <a:solidFill>
                  <a:srgbClr val="F0F0F0"/>
                </a:solidFill>
                <a:latin typeface="Segoe UI"/>
              </a:rPr>
              <a:t>  Generally stronger</a:t>
            </a:r>
          </a:p>
          <a:p>
            <a:pPr>
              <a:spcAft>
                <a:spcPts val="600"/>
              </a:spcAft>
            </a:pPr>
            <a:r>
              <a:rPr sz="1500">
                <a:solidFill>
                  <a:srgbClr val="F0F0F0"/>
                </a:solidFill>
                <a:latin typeface="Segoe UI"/>
              </a:rPr>
              <a:t>  Examples: steel, cast iron, wrought iron</a:t>
            </a:r>
          </a:p>
        </p:txBody>
      </p:sp>
      <p:sp>
        <p:nvSpPr>
          <p:cNvPr id="7" name="TextBox 6"/>
          <p:cNvSpPr txBox="1"/>
          <p:nvPr/>
        </p:nvSpPr>
        <p:spPr>
          <a:xfrm>
            <a:off x="6217920" y="1097280"/>
            <a:ext cx="5029200" cy="457200"/>
          </a:xfrm>
          <a:prstGeom prst="rect">
            <a:avLst/>
          </a:prstGeom>
          <a:noFill/>
        </p:spPr>
        <p:txBody>
          <a:bodyPr wrap="square">
            <a:spAutoFit/>
          </a:bodyPr>
          <a:lstStyle/>
          <a:p>
            <a:pPr algn="l">
              <a:defRPr sz="2800" b="1">
                <a:solidFill>
                  <a:srgbClr val="E2B714"/>
                </a:solidFill>
                <a:latin typeface="Segoe UI"/>
              </a:defRPr>
            </a:pPr>
            <a:r>
              <a:t>Non-Ferrous</a:t>
            </a:r>
          </a:p>
        </p:txBody>
      </p:sp>
      <p:pic>
        <p:nvPicPr>
          <p:cNvPr id="8" name="Picture 7" descr="nonferrous-copper.jpg"/>
          <p:cNvPicPr>
            <a:picLocks noChangeAspect="1"/>
          </p:cNvPicPr>
          <p:nvPr/>
        </p:nvPicPr>
        <p:blipFill>
          <a:blip r:embed="rId4"/>
          <a:stretch>
            <a:fillRect/>
          </a:stretch>
        </p:blipFill>
        <p:spPr>
          <a:xfrm>
            <a:off x="6217920" y="1645920"/>
            <a:ext cx="5029200" cy="2011680"/>
          </a:xfrm>
          <a:prstGeom prst="rect">
            <a:avLst/>
          </a:prstGeom>
        </p:spPr>
      </p:pic>
      <p:sp>
        <p:nvSpPr>
          <p:cNvPr id="9" name="TextBox 8"/>
          <p:cNvSpPr txBox="1"/>
          <p:nvPr/>
        </p:nvSpPr>
        <p:spPr>
          <a:xfrm>
            <a:off x="6217920" y="3749039"/>
            <a:ext cx="5029200" cy="2743200"/>
          </a:xfrm>
          <a:prstGeom prst="rect">
            <a:avLst/>
          </a:prstGeom>
          <a:noFill/>
        </p:spPr>
        <p:txBody>
          <a:bodyPr wrap="square">
            <a:spAutoFit/>
          </a:bodyPr>
          <a:lstStyle/>
          <a:p>
            <a:pPr>
              <a:spcAft>
                <a:spcPts val="600"/>
              </a:spcAft>
            </a:pPr>
            <a:r>
              <a:rPr sz="1500">
                <a:solidFill>
                  <a:srgbClr val="F0F0F0"/>
                </a:solidFill>
                <a:latin typeface="Segoe UI"/>
              </a:rPr>
              <a:t>  Contains no iron</a:t>
            </a:r>
          </a:p>
          <a:p>
            <a:pPr>
              <a:spcAft>
                <a:spcPts val="600"/>
              </a:spcAft>
            </a:pPr>
            <a:r>
              <a:rPr sz="1500">
                <a:solidFill>
                  <a:srgbClr val="F0F0F0"/>
                </a:solidFill>
                <a:latin typeface="Segoe UI"/>
              </a:rPr>
              <a:t>  Not magnetic</a:t>
            </a:r>
          </a:p>
          <a:p>
            <a:pPr>
              <a:spcAft>
                <a:spcPts val="600"/>
              </a:spcAft>
            </a:pPr>
            <a:r>
              <a:rPr sz="1500">
                <a:solidFill>
                  <a:srgbClr val="F0F0F0"/>
                </a:solidFill>
                <a:latin typeface="Segoe UI"/>
              </a:rPr>
              <a:t>  Naturally corrosion resistant</a:t>
            </a:r>
          </a:p>
          <a:p>
            <a:pPr>
              <a:spcAft>
                <a:spcPts val="600"/>
              </a:spcAft>
            </a:pPr>
            <a:r>
              <a:rPr sz="1500">
                <a:solidFill>
                  <a:srgbClr val="F0F0F0"/>
                </a:solidFill>
                <a:latin typeface="Segoe UI"/>
              </a:rPr>
              <a:t>  Generally lighter</a:t>
            </a:r>
          </a:p>
          <a:p>
            <a:pPr>
              <a:spcAft>
                <a:spcPts val="600"/>
              </a:spcAft>
            </a:pPr>
            <a:r>
              <a:rPr sz="1500">
                <a:solidFill>
                  <a:srgbClr val="F0F0F0"/>
                </a:solidFill>
                <a:latin typeface="Segoe UI"/>
              </a:rPr>
              <a:t>  Examples: aluminum, copper, brass, titanium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731520"/>
          </a:xfrm>
          <a:prstGeom prst="rect">
            <a:avLst/>
          </a:prstGeom>
          <a:noFill/>
        </p:spPr>
        <p:txBody>
          <a:bodyPr wrap="none">
            <a:spAutoFit/>
          </a:bodyPr>
          <a:lstStyle/>
          <a:p>
            <a:pPr>
              <a:defRPr sz="3600" b="1">
                <a:solidFill>
                  <a:srgbClr val="F0F0F0"/>
                </a:solidFill>
                <a:latin typeface="Segoe UI"/>
              </a:defRPr>
            </a:pPr>
            <a:r>
              <a:t>Why Do You Care?</a:t>
            </a:r>
          </a:p>
        </p:txBody>
      </p:sp>
      <p:sp>
        <p:nvSpPr>
          <p:cNvPr id="3" name="Rectangle 2"/>
          <p:cNvSpPr/>
          <p:nvPr/>
        </p:nvSpPr>
        <p:spPr>
          <a:xfrm>
            <a:off x="548640" y="914400"/>
            <a:ext cx="2743200" cy="38100"/>
          </a:xfrm>
          <a:prstGeom prst="rect">
            <a:avLst/>
          </a:prstGeom>
          <a:solidFill>
            <a:srgbClr val="E2B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71600"/>
            <a:ext cx="10058400" cy="4572000"/>
          </a:xfrm>
          <a:prstGeom prst="rect">
            <a:avLst/>
          </a:prstGeom>
          <a:noFill/>
        </p:spPr>
        <p:txBody>
          <a:bodyPr wrap="square">
            <a:spAutoFit/>
          </a:bodyPr>
          <a:lstStyle/>
          <a:p>
            <a:pPr>
              <a:spcAft>
                <a:spcPts val="1400"/>
              </a:spcAft>
            </a:pPr>
            <a:r>
              <a:rPr sz="2200">
                <a:solidFill>
                  <a:srgbClr val="F0F0F0"/>
                </a:solidFill>
                <a:latin typeface="Segoe UI"/>
              </a:rPr>
              <a:t>  The harder the metal, the more it wears your tools</a:t>
            </a:r>
          </a:p>
          <a:p>
            <a:pPr>
              <a:spcAft>
                <a:spcPts val="1400"/>
              </a:spcAft>
            </a:pPr>
            <a:r>
              <a:rPr sz="2200">
                <a:solidFill>
                  <a:srgbClr val="F0F0F0"/>
                </a:solidFill>
                <a:latin typeface="Segoe UI"/>
              </a:rPr>
              <a:t>  "Machinability" = how easy it is to cut, drill, and shape</a:t>
            </a:r>
          </a:p>
          <a:p>
            <a:pPr>
              <a:spcAft>
                <a:spcPts val="1400"/>
              </a:spcAft>
            </a:pPr>
            <a:r>
              <a:rPr sz="2200">
                <a:solidFill>
                  <a:srgbClr val="F0F0F0"/>
                </a:solidFill>
                <a:latin typeface="Segoe UI"/>
              </a:rPr>
              <a:t>  Wrong metal + wrong process = ruined project</a:t>
            </a:r>
          </a:p>
          <a:p>
            <a:pPr>
              <a:spcAft>
                <a:spcPts val="1400"/>
              </a:spcAft>
            </a:pPr>
            <a:r>
              <a:rPr sz="2200">
                <a:solidFill>
                  <a:srgbClr val="F0F0F0"/>
                </a:solidFill>
                <a:latin typeface="Segoe UI"/>
              </a:rPr>
              <a:t>  Different metals require different welding wire, gas, and settings</a:t>
            </a:r>
          </a:p>
          <a:p>
            <a:pPr>
              <a:spcAft>
                <a:spcPts val="1400"/>
              </a:spcAft>
            </a:pPr>
            <a:r>
              <a:rPr sz="2200">
                <a:solidFill>
                  <a:srgbClr val="F0F0F0"/>
                </a:solidFill>
                <a:latin typeface="Segoe UI"/>
              </a:rPr>
              <a:t>  Cost varies wildly — mild steel is ~$1/lb, stainless can be ~$3-4/lb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731520"/>
          </a:xfrm>
          <a:prstGeom prst="rect">
            <a:avLst/>
          </a:prstGeom>
          <a:noFill/>
        </p:spPr>
        <p:txBody>
          <a:bodyPr wrap="none">
            <a:spAutoFit/>
          </a:bodyPr>
          <a:lstStyle/>
          <a:p>
            <a:pPr>
              <a:defRPr sz="3600" b="1">
                <a:solidFill>
                  <a:srgbClr val="F0F0F0"/>
                </a:solidFill>
                <a:latin typeface="Segoe UI"/>
              </a:defRPr>
            </a:pPr>
            <a:r>
              <a:t>Metal Identification Methods</a:t>
            </a:r>
          </a:p>
        </p:txBody>
      </p:sp>
      <p:sp>
        <p:nvSpPr>
          <p:cNvPr id="3" name="Rectangle 2"/>
          <p:cNvSpPr/>
          <p:nvPr/>
        </p:nvSpPr>
        <p:spPr>
          <a:xfrm>
            <a:off x="548640" y="914400"/>
            <a:ext cx="2743200" cy="38100"/>
          </a:xfrm>
          <a:prstGeom prst="rect">
            <a:avLst/>
          </a:prstGeom>
          <a:solidFill>
            <a:srgbClr val="E2B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097280"/>
            <a:ext cx="5303520" cy="365760"/>
          </a:xfrm>
          <a:prstGeom prst="rect">
            <a:avLst/>
          </a:prstGeom>
          <a:noFill/>
        </p:spPr>
        <p:txBody>
          <a:bodyPr wrap="square">
            <a:spAutoFit/>
          </a:bodyPr>
          <a:lstStyle/>
          <a:p>
            <a:pPr algn="l">
              <a:defRPr sz="2200" b="1">
                <a:solidFill>
                  <a:srgbClr val="E2B714"/>
                </a:solidFill>
                <a:latin typeface="Segoe UI"/>
              </a:defRPr>
            </a:pPr>
            <a:r>
              <a:t>1. Magnet Test</a:t>
            </a:r>
          </a:p>
        </p:txBody>
      </p:sp>
      <p:sp>
        <p:nvSpPr>
          <p:cNvPr id="5" name="TextBox 4"/>
          <p:cNvSpPr txBox="1"/>
          <p:nvPr/>
        </p:nvSpPr>
        <p:spPr>
          <a:xfrm>
            <a:off x="548640" y="1554480"/>
            <a:ext cx="5303520" cy="2286000"/>
          </a:xfrm>
          <a:prstGeom prst="rect">
            <a:avLst/>
          </a:prstGeom>
          <a:noFill/>
        </p:spPr>
        <p:txBody>
          <a:bodyPr wrap="square">
            <a:spAutoFit/>
          </a:bodyPr>
          <a:lstStyle/>
          <a:p>
            <a:pPr>
              <a:spcAft>
                <a:spcPts val="300"/>
              </a:spcAft>
            </a:pPr>
            <a:r>
              <a:rPr sz="1400">
                <a:solidFill>
                  <a:srgbClr val="F0F0F0"/>
                </a:solidFill>
                <a:latin typeface="Segoe UI"/>
              </a:rPr>
              <a:t>  Sticks = ferrous (contains iron)</a:t>
            </a:r>
          </a:p>
          <a:p>
            <a:pPr>
              <a:spcAft>
                <a:spcPts val="300"/>
              </a:spcAft>
            </a:pPr>
            <a:r>
              <a:rPr sz="1400">
                <a:solidFill>
                  <a:srgbClr val="F0F0F0"/>
                </a:solidFill>
                <a:latin typeface="Segoe UI"/>
              </a:rPr>
              <a:t>  Doesn't stick = non-ferrous (aluminum, copper, brass)</a:t>
            </a:r>
          </a:p>
          <a:p>
            <a:pPr>
              <a:spcAft>
                <a:spcPts val="300"/>
              </a:spcAft>
            </a:pPr>
            <a:r>
              <a:rPr sz="1400">
                <a:solidFill>
                  <a:srgbClr val="F0F0F0"/>
                </a:solidFill>
                <a:latin typeface="Segoe UI"/>
              </a:rPr>
              <a:t>  Caution: some stainless is weakly magnetic</a:t>
            </a:r>
          </a:p>
          <a:p>
            <a:pPr>
              <a:spcAft>
                <a:spcPts val="300"/>
              </a:spcAft>
            </a:pPr>
            <a:r>
              <a:rPr sz="1400">
                <a:solidFill>
                  <a:srgbClr val="F0F0F0"/>
                </a:solidFill>
                <a:latin typeface="Segoe UI"/>
              </a:rPr>
              <a:t>  Simplest field test — always start here</a:t>
            </a:r>
          </a:p>
        </p:txBody>
      </p:sp>
      <p:sp>
        <p:nvSpPr>
          <p:cNvPr id="6" name="TextBox 5"/>
          <p:cNvSpPr txBox="1"/>
          <p:nvPr/>
        </p:nvSpPr>
        <p:spPr>
          <a:xfrm>
            <a:off x="6217920" y="1097280"/>
            <a:ext cx="5303520" cy="365760"/>
          </a:xfrm>
          <a:prstGeom prst="rect">
            <a:avLst/>
          </a:prstGeom>
          <a:noFill/>
        </p:spPr>
        <p:txBody>
          <a:bodyPr wrap="square">
            <a:spAutoFit/>
          </a:bodyPr>
          <a:lstStyle/>
          <a:p>
            <a:pPr algn="l">
              <a:defRPr sz="2200" b="1">
                <a:solidFill>
                  <a:srgbClr val="E2B714"/>
                </a:solidFill>
                <a:latin typeface="Segoe UI"/>
              </a:defRPr>
            </a:pPr>
            <a:r>
              <a:t>2. Spark Test (Grinder)</a:t>
            </a:r>
          </a:p>
        </p:txBody>
      </p:sp>
      <p:sp>
        <p:nvSpPr>
          <p:cNvPr id="7" name="TextBox 6"/>
          <p:cNvSpPr txBox="1"/>
          <p:nvPr/>
        </p:nvSpPr>
        <p:spPr>
          <a:xfrm>
            <a:off x="6217920" y="1554480"/>
            <a:ext cx="5303520" cy="2286000"/>
          </a:xfrm>
          <a:prstGeom prst="rect">
            <a:avLst/>
          </a:prstGeom>
          <a:noFill/>
        </p:spPr>
        <p:txBody>
          <a:bodyPr wrap="square">
            <a:spAutoFit/>
          </a:bodyPr>
          <a:lstStyle/>
          <a:p>
            <a:pPr>
              <a:spcAft>
                <a:spcPts val="300"/>
              </a:spcAft>
            </a:pPr>
            <a:r>
              <a:rPr sz="1400">
                <a:solidFill>
                  <a:srgbClr val="F0F0F0"/>
                </a:solidFill>
                <a:latin typeface="Segoe UI"/>
              </a:rPr>
              <a:t>  Mild steel: long white sparks, many forks (carbon bursts)</a:t>
            </a:r>
          </a:p>
          <a:p>
            <a:pPr>
              <a:spcAft>
                <a:spcPts val="300"/>
              </a:spcAft>
            </a:pPr>
            <a:r>
              <a:rPr sz="1400">
                <a:solidFill>
                  <a:srgbClr val="F0F0F0"/>
                </a:solidFill>
                <a:latin typeface="Segoe UI"/>
              </a:rPr>
              <a:t>  Stainless: short dark-red sparks, very few forks</a:t>
            </a:r>
          </a:p>
          <a:p>
            <a:pPr>
              <a:spcAft>
                <a:spcPts val="300"/>
              </a:spcAft>
            </a:pPr>
            <a:r>
              <a:rPr sz="1400">
                <a:solidFill>
                  <a:srgbClr val="F0F0F0"/>
                </a:solidFill>
                <a:latin typeface="Segoe UI"/>
              </a:rPr>
              <a:t>  Cast iron: short red sparks, very fine streams</a:t>
            </a:r>
          </a:p>
          <a:p>
            <a:pPr>
              <a:spcAft>
                <a:spcPts val="300"/>
              </a:spcAft>
            </a:pPr>
            <a:r>
              <a:rPr sz="1400">
                <a:solidFill>
                  <a:srgbClr val="F0F0F0"/>
                </a:solidFill>
                <a:latin typeface="Segoe UI"/>
              </a:rPr>
              <a:t>  Aluminum &amp; copper: no sparks at all</a:t>
            </a:r>
          </a:p>
        </p:txBody>
      </p:sp>
      <p:sp>
        <p:nvSpPr>
          <p:cNvPr id="8" name="TextBox 7"/>
          <p:cNvSpPr txBox="1"/>
          <p:nvPr/>
        </p:nvSpPr>
        <p:spPr>
          <a:xfrm>
            <a:off x="548640" y="3657600"/>
            <a:ext cx="5303520" cy="365760"/>
          </a:xfrm>
          <a:prstGeom prst="rect">
            <a:avLst/>
          </a:prstGeom>
          <a:noFill/>
        </p:spPr>
        <p:txBody>
          <a:bodyPr wrap="square">
            <a:spAutoFit/>
          </a:bodyPr>
          <a:lstStyle/>
          <a:p>
            <a:pPr algn="l">
              <a:defRPr sz="2200" b="1">
                <a:solidFill>
                  <a:srgbClr val="E2B714"/>
                </a:solidFill>
                <a:latin typeface="Segoe UI"/>
              </a:defRPr>
            </a:pPr>
            <a:r>
              <a:t>3. Weight / Density Feel</a:t>
            </a:r>
          </a:p>
        </p:txBody>
      </p:sp>
      <p:sp>
        <p:nvSpPr>
          <p:cNvPr id="9" name="TextBox 8"/>
          <p:cNvSpPr txBox="1"/>
          <p:nvPr/>
        </p:nvSpPr>
        <p:spPr>
          <a:xfrm>
            <a:off x="548640" y="4114800"/>
            <a:ext cx="5303520" cy="2286000"/>
          </a:xfrm>
          <a:prstGeom prst="rect">
            <a:avLst/>
          </a:prstGeom>
          <a:noFill/>
        </p:spPr>
        <p:txBody>
          <a:bodyPr wrap="square">
            <a:spAutoFit/>
          </a:bodyPr>
          <a:lstStyle/>
          <a:p>
            <a:pPr>
              <a:spcAft>
                <a:spcPts val="300"/>
              </a:spcAft>
            </a:pPr>
            <a:r>
              <a:rPr sz="1400">
                <a:solidFill>
                  <a:srgbClr val="F0F0F0"/>
                </a:solidFill>
                <a:latin typeface="Segoe UI"/>
              </a:rPr>
              <a:t>  Aluminum: shockingly light (~1/3 of steel)</a:t>
            </a:r>
          </a:p>
          <a:p>
            <a:pPr>
              <a:spcAft>
                <a:spcPts val="300"/>
              </a:spcAft>
            </a:pPr>
            <a:r>
              <a:rPr sz="1400">
                <a:solidFill>
                  <a:srgbClr val="F0F0F0"/>
                </a:solidFill>
                <a:latin typeface="Segoe UI"/>
              </a:rPr>
              <a:t>  Steel &amp; stainless: heavy, similar to each other</a:t>
            </a:r>
          </a:p>
          <a:p>
            <a:pPr>
              <a:spcAft>
                <a:spcPts val="300"/>
              </a:spcAft>
            </a:pPr>
            <a:r>
              <a:rPr sz="1400">
                <a:solidFill>
                  <a:srgbClr val="F0F0F0"/>
                </a:solidFill>
                <a:latin typeface="Segoe UI"/>
              </a:rPr>
              <a:t>  Copper &amp; brass: noticeably heavier than steel</a:t>
            </a:r>
          </a:p>
          <a:p>
            <a:pPr>
              <a:spcAft>
                <a:spcPts val="300"/>
              </a:spcAft>
            </a:pPr>
            <a:r>
              <a:rPr sz="1400">
                <a:solidFill>
                  <a:srgbClr val="F0F0F0"/>
                </a:solidFill>
                <a:latin typeface="Segoe UI"/>
              </a:rPr>
              <a:t>  Titanium: lighter than steel, heavier than aluminum</a:t>
            </a:r>
          </a:p>
        </p:txBody>
      </p:sp>
      <p:sp>
        <p:nvSpPr>
          <p:cNvPr id="10" name="TextBox 9"/>
          <p:cNvSpPr txBox="1"/>
          <p:nvPr/>
        </p:nvSpPr>
        <p:spPr>
          <a:xfrm>
            <a:off x="6217920" y="3657600"/>
            <a:ext cx="5303520" cy="365760"/>
          </a:xfrm>
          <a:prstGeom prst="rect">
            <a:avLst/>
          </a:prstGeom>
          <a:noFill/>
        </p:spPr>
        <p:txBody>
          <a:bodyPr wrap="square">
            <a:spAutoFit/>
          </a:bodyPr>
          <a:lstStyle/>
          <a:p>
            <a:pPr algn="l">
              <a:defRPr sz="2200" b="1">
                <a:solidFill>
                  <a:srgbClr val="E2B714"/>
                </a:solidFill>
                <a:latin typeface="Segoe UI"/>
              </a:defRPr>
            </a:pPr>
            <a:r>
              <a:t>4. Visual / Color Cues</a:t>
            </a:r>
          </a:p>
        </p:txBody>
      </p:sp>
      <p:sp>
        <p:nvSpPr>
          <p:cNvPr id="11" name="TextBox 10"/>
          <p:cNvSpPr txBox="1"/>
          <p:nvPr/>
        </p:nvSpPr>
        <p:spPr>
          <a:xfrm>
            <a:off x="6217920" y="4114800"/>
            <a:ext cx="5303520" cy="2286000"/>
          </a:xfrm>
          <a:prstGeom prst="rect">
            <a:avLst/>
          </a:prstGeom>
          <a:noFill/>
        </p:spPr>
        <p:txBody>
          <a:bodyPr wrap="square">
            <a:spAutoFit/>
          </a:bodyPr>
          <a:lstStyle/>
          <a:p>
            <a:pPr>
              <a:spcAft>
                <a:spcPts val="300"/>
              </a:spcAft>
            </a:pPr>
            <a:r>
              <a:rPr sz="1400">
                <a:solidFill>
                  <a:srgbClr val="F0F0F0"/>
                </a:solidFill>
                <a:latin typeface="Segoe UI"/>
              </a:rPr>
              <a:t>  Mild steel: dark grey with bluish mill scale</a:t>
            </a:r>
          </a:p>
          <a:p>
            <a:pPr>
              <a:spcAft>
                <a:spcPts val="300"/>
              </a:spcAft>
            </a:pPr>
            <a:r>
              <a:rPr sz="1400">
                <a:solidFill>
                  <a:srgbClr val="F0F0F0"/>
                </a:solidFill>
                <a:latin typeface="Segoe UI"/>
              </a:rPr>
              <a:t>  Aluminum: bright silver-white, stays clean</a:t>
            </a:r>
          </a:p>
          <a:p>
            <a:pPr>
              <a:spcAft>
                <a:spcPts val="300"/>
              </a:spcAft>
            </a:pPr>
            <a:r>
              <a:rPr sz="1400">
                <a:solidFill>
                  <a:srgbClr val="F0F0F0"/>
                </a:solidFill>
                <a:latin typeface="Segoe UI"/>
              </a:rPr>
              <a:t>  Copper: distinctive reddish-orange, develops green patina</a:t>
            </a:r>
          </a:p>
          <a:p>
            <a:pPr>
              <a:spcAft>
                <a:spcPts val="300"/>
              </a:spcAft>
            </a:pPr>
            <a:r>
              <a:rPr sz="1400">
                <a:solidFill>
                  <a:srgbClr val="F0F0F0"/>
                </a:solidFill>
                <a:latin typeface="Segoe UI"/>
              </a:rPr>
              <a:t>  Brass: gold/yellow tone — unmistakable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731520"/>
          </a:xfrm>
          <a:prstGeom prst="rect">
            <a:avLst/>
          </a:prstGeom>
          <a:noFill/>
        </p:spPr>
        <p:txBody>
          <a:bodyPr wrap="none">
            <a:spAutoFit/>
          </a:bodyPr>
          <a:lstStyle/>
          <a:p>
            <a:r>
              <a:rPr sz="3600" b="1">
                <a:solidFill>
                  <a:srgbClr val="F0F0F0"/>
                </a:solidFill>
                <a:latin typeface="Segoe UI"/>
              </a:rPr>
              <a:t>Mild Steel </a:t>
            </a:r>
            <a:r>
              <a:rPr sz="2400">
                <a:solidFill>
                  <a:srgbClr val="C0C0C0"/>
                </a:solidFill>
                <a:latin typeface="Segoe UI"/>
              </a:rPr>
              <a:t>(1018 / A36)</a:t>
            </a:r>
          </a:p>
        </p:txBody>
      </p:sp>
      <p:sp>
        <p:nvSpPr>
          <p:cNvPr id="3" name="Rectangle 2"/>
          <p:cNvSpPr/>
          <p:nvPr/>
        </p:nvSpPr>
        <p:spPr>
          <a:xfrm>
            <a:off x="548640" y="914400"/>
            <a:ext cx="2743200" cy="38100"/>
          </a:xfrm>
          <a:prstGeom prst="rect">
            <a:avLst/>
          </a:prstGeom>
          <a:solidFill>
            <a:srgbClr val="E2B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188720"/>
            <a:ext cx="6400800" cy="5486400"/>
          </a:xfrm>
          <a:prstGeom prst="rect">
            <a:avLst/>
          </a:prstGeom>
          <a:noFill/>
        </p:spPr>
        <p:txBody>
          <a:bodyPr wrap="square">
            <a:spAutoFit/>
          </a:bodyPr>
          <a:lstStyle/>
          <a:p>
            <a:pPr>
              <a:spcAft>
                <a:spcPts val="400"/>
              </a:spcAft>
            </a:pPr>
            <a:r>
              <a:rPr sz="1500">
                <a:solidFill>
                  <a:srgbClr val="F0F0F0"/>
                </a:solidFill>
                <a:latin typeface="Segoe UI"/>
              </a:rPr>
              <a:t>  FERROUS</a:t>
            </a:r>
          </a:p>
          <a:p>
            <a:pPr>
              <a:spcAft>
                <a:spcPts val="400"/>
              </a:spcAft>
            </a:pPr>
            <a:r>
              <a:rPr sz="1500">
                <a:solidFill>
                  <a:srgbClr val="F0F0F0"/>
                </a:solidFill>
                <a:latin typeface="Segoe UI"/>
              </a:rPr>
              <a:t>  Color: dark grey, bluish mill scale</a:t>
            </a:r>
          </a:p>
          <a:p>
            <a:pPr>
              <a:spcAft>
                <a:spcPts val="400"/>
              </a:spcAft>
            </a:pPr>
            <a:r>
              <a:rPr sz="1500">
                <a:solidFill>
                  <a:srgbClr val="F0F0F0"/>
                </a:solidFill>
                <a:latin typeface="Segoe UI"/>
              </a:rPr>
              <a:t>  Hardness: low-medium (Brinell ~126)</a:t>
            </a:r>
          </a:p>
          <a:p>
            <a:pPr>
              <a:spcAft>
                <a:spcPts val="400"/>
              </a:spcAft>
            </a:pPr>
            <a:r>
              <a:rPr sz="1500">
                <a:solidFill>
                  <a:srgbClr val="F0F0F0"/>
                </a:solidFill>
                <a:latin typeface="Segoe UI"/>
              </a:rPr>
              <a:t>  Machinability: excellent</a:t>
            </a:r>
          </a:p>
          <a:p>
            <a:pPr>
              <a:spcAft>
                <a:spcPts val="400"/>
              </a:spcAft>
            </a:pPr>
            <a:r>
              <a:rPr sz="1500">
                <a:solidFill>
                  <a:srgbClr val="F0F0F0"/>
                </a:solidFill>
                <a:latin typeface="Segoe UI"/>
              </a:rPr>
              <a:t>  Weldability: excellent — easiest to weld</a:t>
            </a:r>
          </a:p>
          <a:p>
            <a:pPr>
              <a:spcAft>
                <a:spcPts val="400"/>
              </a:spcAft>
            </a:pPr>
            <a:r>
              <a:rPr sz="1500">
                <a:solidFill>
                  <a:srgbClr val="F0F0F0"/>
                </a:solidFill>
                <a:latin typeface="Segoe UI"/>
              </a:rPr>
              <a:t>  Density: 7.87 g/cm³ (heavy)</a:t>
            </a:r>
          </a:p>
          <a:p>
            <a:pPr>
              <a:spcAft>
                <a:spcPts val="400"/>
              </a:spcAft>
            </a:pPr>
            <a:r>
              <a:rPr sz="1500">
                <a:solidFill>
                  <a:srgbClr val="F0F0F0"/>
                </a:solidFill>
                <a:latin typeface="Segoe UI"/>
              </a:rPr>
              <a:t>  Magnetic: yes</a:t>
            </a:r>
          </a:p>
          <a:p>
            <a:pPr>
              <a:spcAft>
                <a:spcPts val="400"/>
              </a:spcAft>
            </a:pPr>
            <a:r>
              <a:rPr sz="1500">
                <a:solidFill>
                  <a:srgbClr val="F0F0F0"/>
                </a:solidFill>
                <a:latin typeface="Segoe UI"/>
              </a:rPr>
              <a:t>  Corrosion: rusts easily — oil or prime it</a:t>
            </a:r>
          </a:p>
          <a:p>
            <a:pPr>
              <a:spcAft>
                <a:spcPts val="400"/>
              </a:spcAft>
            </a:pPr>
            <a:r>
              <a:rPr sz="1500">
                <a:solidFill>
                  <a:srgbClr val="F0F0F0"/>
                </a:solidFill>
                <a:latin typeface="Segoe UI"/>
              </a:rPr>
              <a:t>  Carbon content: 0.18% (low carbon)</a:t>
            </a:r>
          </a:p>
          <a:p>
            <a:pPr>
              <a:spcAft>
                <a:spcPts val="400"/>
              </a:spcAft>
            </a:pPr>
            <a:r>
              <a:rPr sz="1500">
                <a:solidFill>
                  <a:srgbClr val="F0F0F0"/>
                </a:solidFill>
                <a:latin typeface="Segoe UI"/>
              </a:rPr>
              <a:t>  Cost: ~$1/lb — the cheapest structural metal</a:t>
            </a:r>
          </a:p>
          <a:p>
            <a:pPr>
              <a:spcAft>
                <a:spcPts val="400"/>
              </a:spcAft>
            </a:pPr>
            <a:r>
              <a:rPr sz="1500">
                <a:solidFill>
                  <a:srgbClr val="F0F0F0"/>
                </a:solidFill>
                <a:latin typeface="Segoe UI"/>
              </a:rPr>
              <a:t>  The "pine" of metals — learn on this first</a:t>
            </a:r>
          </a:p>
        </p:txBody>
      </p:sp>
      <p:pic>
        <p:nvPicPr>
          <p:cNvPr id="5" name="Picture 4" descr="mild-steel.jpg"/>
          <p:cNvPicPr>
            <a:picLocks noChangeAspect="1"/>
          </p:cNvPicPr>
          <p:nvPr/>
        </p:nvPicPr>
        <p:blipFill>
          <a:blip r:embed="rId3"/>
          <a:stretch>
            <a:fillRect/>
          </a:stretch>
        </p:blipFill>
        <p:spPr>
          <a:xfrm>
            <a:off x="7315200" y="1188720"/>
            <a:ext cx="4389120" cy="2560320"/>
          </a:xfrm>
          <a:prstGeom prst="rect">
            <a:avLst/>
          </a:prstGeom>
        </p:spPr>
      </p:pic>
      <p:pic>
        <p:nvPicPr>
          <p:cNvPr id="6" name="Picture 5" descr="mild-steel-project.jpg"/>
          <p:cNvPicPr>
            <a:picLocks noChangeAspect="1"/>
          </p:cNvPicPr>
          <p:nvPr/>
        </p:nvPicPr>
        <p:blipFill>
          <a:blip r:embed="rId4"/>
          <a:stretch>
            <a:fillRect/>
          </a:stretch>
        </p:blipFill>
        <p:spPr>
          <a:xfrm>
            <a:off x="7315200" y="3931920"/>
            <a:ext cx="4389120" cy="25603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731520"/>
          </a:xfrm>
          <a:prstGeom prst="rect">
            <a:avLst/>
          </a:prstGeom>
          <a:noFill/>
        </p:spPr>
        <p:txBody>
          <a:bodyPr wrap="none">
            <a:spAutoFit/>
          </a:bodyPr>
          <a:lstStyle/>
          <a:p>
            <a:r>
              <a:rPr sz="3600" b="1">
                <a:solidFill>
                  <a:srgbClr val="F0F0F0"/>
                </a:solidFill>
                <a:latin typeface="Segoe UI"/>
              </a:rPr>
              <a:t>4140 Chrome-Moly Steel </a:t>
            </a:r>
            <a:r>
              <a:rPr sz="2400">
                <a:solidFill>
                  <a:srgbClr val="C0C0C0"/>
                </a:solidFill>
                <a:latin typeface="Segoe UI"/>
              </a:rPr>
              <a:t>(4140)</a:t>
            </a:r>
          </a:p>
        </p:txBody>
      </p:sp>
      <p:sp>
        <p:nvSpPr>
          <p:cNvPr id="3" name="Rectangle 2"/>
          <p:cNvSpPr/>
          <p:nvPr/>
        </p:nvSpPr>
        <p:spPr>
          <a:xfrm>
            <a:off x="548640" y="914400"/>
            <a:ext cx="2743200" cy="38100"/>
          </a:xfrm>
          <a:prstGeom prst="rect">
            <a:avLst/>
          </a:prstGeom>
          <a:solidFill>
            <a:srgbClr val="E2B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188720"/>
            <a:ext cx="6400800" cy="5486400"/>
          </a:xfrm>
          <a:prstGeom prst="rect">
            <a:avLst/>
          </a:prstGeom>
          <a:noFill/>
        </p:spPr>
        <p:txBody>
          <a:bodyPr wrap="square">
            <a:spAutoFit/>
          </a:bodyPr>
          <a:lstStyle/>
          <a:p>
            <a:pPr>
              <a:spcAft>
                <a:spcPts val="400"/>
              </a:spcAft>
            </a:pPr>
            <a:r>
              <a:rPr sz="1500">
                <a:solidFill>
                  <a:srgbClr val="F0F0F0"/>
                </a:solidFill>
                <a:latin typeface="Segoe UI"/>
              </a:rPr>
              <a:t>  FERROUS</a:t>
            </a:r>
          </a:p>
          <a:p>
            <a:pPr>
              <a:spcAft>
                <a:spcPts val="400"/>
              </a:spcAft>
            </a:pPr>
            <a:r>
              <a:rPr sz="1500">
                <a:solidFill>
                  <a:srgbClr val="F0F0F0"/>
                </a:solidFill>
                <a:latin typeface="Segoe UI"/>
              </a:rPr>
              <a:t>  Color: dark grey, similar to mild steel</a:t>
            </a:r>
          </a:p>
          <a:p>
            <a:pPr>
              <a:spcAft>
                <a:spcPts val="400"/>
              </a:spcAft>
            </a:pPr>
            <a:r>
              <a:rPr sz="1500">
                <a:solidFill>
                  <a:srgbClr val="F0F0F0"/>
                </a:solidFill>
                <a:latin typeface="Segoe UI"/>
              </a:rPr>
              <a:t>  Hardness: medium-high (Brinell ~197 annealed, ~500+ hardened)</a:t>
            </a:r>
          </a:p>
          <a:p>
            <a:pPr>
              <a:spcAft>
                <a:spcPts val="400"/>
              </a:spcAft>
            </a:pPr>
            <a:r>
              <a:rPr sz="1500">
                <a:solidFill>
                  <a:srgbClr val="F0F0F0"/>
                </a:solidFill>
                <a:latin typeface="Segoe UI"/>
              </a:rPr>
              <a:t>  Machinability: good when annealed, poor when hardened</a:t>
            </a:r>
          </a:p>
          <a:p>
            <a:pPr>
              <a:spcAft>
                <a:spcPts val="400"/>
              </a:spcAft>
            </a:pPr>
            <a:r>
              <a:rPr sz="1500">
                <a:solidFill>
                  <a:srgbClr val="F0F0F0"/>
                </a:solidFill>
                <a:latin typeface="Segoe UI"/>
              </a:rPr>
              <a:t>  Weldability: weldable — preheat required (400°F)</a:t>
            </a:r>
          </a:p>
          <a:p>
            <a:pPr>
              <a:spcAft>
                <a:spcPts val="400"/>
              </a:spcAft>
            </a:pPr>
            <a:r>
              <a:rPr sz="1500">
                <a:solidFill>
                  <a:srgbClr val="F0F0F0"/>
                </a:solidFill>
                <a:latin typeface="Segoe UI"/>
              </a:rPr>
              <a:t>  Density: 7.85 g/cm³ (same as mild steel)</a:t>
            </a:r>
          </a:p>
          <a:p>
            <a:pPr>
              <a:spcAft>
                <a:spcPts val="400"/>
              </a:spcAft>
            </a:pPr>
            <a:r>
              <a:rPr sz="1500">
                <a:solidFill>
                  <a:srgbClr val="F0F0F0"/>
                </a:solidFill>
                <a:latin typeface="Segoe UI"/>
              </a:rPr>
              <a:t>  Magnetic: yes</a:t>
            </a:r>
          </a:p>
          <a:p>
            <a:pPr>
              <a:spcAft>
                <a:spcPts val="400"/>
              </a:spcAft>
            </a:pPr>
            <a:r>
              <a:rPr sz="1500">
                <a:solidFill>
                  <a:srgbClr val="F0F0F0"/>
                </a:solidFill>
                <a:latin typeface="Segoe UI"/>
              </a:rPr>
              <a:t>  Corrosion: rusts — slightly better than mild steel</a:t>
            </a:r>
          </a:p>
          <a:p>
            <a:pPr>
              <a:spcAft>
                <a:spcPts val="400"/>
              </a:spcAft>
            </a:pPr>
            <a:r>
              <a:rPr sz="1500">
                <a:solidFill>
                  <a:srgbClr val="F0F0F0"/>
                </a:solidFill>
                <a:latin typeface="Segoe UI"/>
              </a:rPr>
              <a:t>  Alloy: 1% chromium + 0.2% molybdenum + 0.4% carbon</a:t>
            </a:r>
          </a:p>
          <a:p>
            <a:pPr>
              <a:spcAft>
                <a:spcPts val="400"/>
              </a:spcAft>
            </a:pPr>
            <a:r>
              <a:rPr sz="1500">
                <a:solidFill>
                  <a:srgbClr val="F0F0F0"/>
                </a:solidFill>
                <a:latin typeface="Segoe UI"/>
              </a:rPr>
              <a:t>  Heat treatable — can be hardened &amp; tempered</a:t>
            </a:r>
          </a:p>
          <a:p>
            <a:pPr>
              <a:spcAft>
                <a:spcPts val="400"/>
              </a:spcAft>
            </a:pPr>
            <a:r>
              <a:rPr sz="1500">
                <a:solidFill>
                  <a:srgbClr val="F0F0F0"/>
                </a:solidFill>
                <a:latin typeface="Segoe UI"/>
              </a:rPr>
              <a:t>  The "red oak" of metals — harder, more demanding, premium result</a:t>
            </a:r>
          </a:p>
        </p:txBody>
      </p:sp>
      <p:pic>
        <p:nvPicPr>
          <p:cNvPr id="5" name="Picture 4" descr="mild-steel.jpg"/>
          <p:cNvPicPr>
            <a:picLocks noChangeAspect="1"/>
          </p:cNvPicPr>
          <p:nvPr/>
        </p:nvPicPr>
        <p:blipFill>
          <a:blip r:embed="rId3"/>
          <a:stretch>
            <a:fillRect/>
          </a:stretch>
        </p:blipFill>
        <p:spPr>
          <a:xfrm>
            <a:off x="7315200" y="1188720"/>
            <a:ext cx="4389120" cy="2560320"/>
          </a:xfrm>
          <a:prstGeom prst="rect">
            <a:avLst/>
          </a:prstGeom>
        </p:spPr>
      </p:pic>
      <p:pic>
        <p:nvPicPr>
          <p:cNvPr id="6" name="Picture 5" descr="mild-steel-project.jpg"/>
          <p:cNvPicPr>
            <a:picLocks noChangeAspect="1"/>
          </p:cNvPicPr>
          <p:nvPr/>
        </p:nvPicPr>
        <p:blipFill>
          <a:blip r:embed="rId4"/>
          <a:stretch>
            <a:fillRect/>
          </a:stretch>
        </p:blipFill>
        <p:spPr>
          <a:xfrm>
            <a:off x="7315200" y="3931920"/>
            <a:ext cx="4389120" cy="25603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731520"/>
          </a:xfrm>
          <a:prstGeom prst="rect">
            <a:avLst/>
          </a:prstGeom>
          <a:noFill/>
        </p:spPr>
        <p:txBody>
          <a:bodyPr wrap="none">
            <a:spAutoFit/>
          </a:bodyPr>
          <a:lstStyle/>
          <a:p>
            <a:r>
              <a:rPr sz="3600" b="1">
                <a:solidFill>
                  <a:srgbClr val="F0F0F0"/>
                </a:solidFill>
                <a:latin typeface="Segoe UI"/>
              </a:rPr>
              <a:t>Tool Steel </a:t>
            </a:r>
            <a:r>
              <a:rPr sz="2400">
                <a:solidFill>
                  <a:srgbClr val="C0C0C0"/>
                </a:solidFill>
                <a:latin typeface="Segoe UI"/>
              </a:rPr>
              <a:t>(A2 / D2)</a:t>
            </a:r>
          </a:p>
        </p:txBody>
      </p:sp>
      <p:sp>
        <p:nvSpPr>
          <p:cNvPr id="3" name="Rectangle 2"/>
          <p:cNvSpPr/>
          <p:nvPr/>
        </p:nvSpPr>
        <p:spPr>
          <a:xfrm>
            <a:off x="548640" y="914400"/>
            <a:ext cx="2743200" cy="38100"/>
          </a:xfrm>
          <a:prstGeom prst="rect">
            <a:avLst/>
          </a:prstGeom>
          <a:solidFill>
            <a:srgbClr val="E2B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188720"/>
            <a:ext cx="6400800" cy="5486400"/>
          </a:xfrm>
          <a:prstGeom prst="rect">
            <a:avLst/>
          </a:prstGeom>
          <a:noFill/>
        </p:spPr>
        <p:txBody>
          <a:bodyPr wrap="square">
            <a:spAutoFit/>
          </a:bodyPr>
          <a:lstStyle/>
          <a:p>
            <a:pPr>
              <a:spcAft>
                <a:spcPts val="400"/>
              </a:spcAft>
            </a:pPr>
            <a:r>
              <a:rPr sz="1500">
                <a:solidFill>
                  <a:srgbClr val="F0F0F0"/>
                </a:solidFill>
                <a:latin typeface="Segoe UI"/>
              </a:rPr>
              <a:t>  FERROUS</a:t>
            </a:r>
          </a:p>
          <a:p>
            <a:pPr>
              <a:spcAft>
                <a:spcPts val="400"/>
              </a:spcAft>
            </a:pPr>
            <a:r>
              <a:rPr sz="1500">
                <a:solidFill>
                  <a:srgbClr val="F0F0F0"/>
                </a:solidFill>
                <a:latin typeface="Segoe UI"/>
              </a:rPr>
              <a:t>  Color: dark grey — looks like other steels until hardened</a:t>
            </a:r>
          </a:p>
          <a:p>
            <a:pPr>
              <a:spcAft>
                <a:spcPts val="400"/>
              </a:spcAft>
            </a:pPr>
            <a:r>
              <a:rPr sz="1500">
                <a:solidFill>
                  <a:srgbClr val="F0F0F0"/>
                </a:solidFill>
                <a:latin typeface="Segoe UI"/>
              </a:rPr>
              <a:t>  Hardness: very high (Rockwell 58-62 HRC hardened)</a:t>
            </a:r>
          </a:p>
          <a:p>
            <a:pPr>
              <a:spcAft>
                <a:spcPts val="400"/>
              </a:spcAft>
            </a:pPr>
            <a:r>
              <a:rPr sz="1500">
                <a:solidFill>
                  <a:srgbClr val="F0F0F0"/>
                </a:solidFill>
                <a:latin typeface="Segoe UI"/>
              </a:rPr>
              <a:t>  Machinability: fair annealed, extremely poor hardened</a:t>
            </a:r>
          </a:p>
          <a:p>
            <a:pPr>
              <a:spcAft>
                <a:spcPts val="400"/>
              </a:spcAft>
            </a:pPr>
            <a:r>
              <a:rPr sz="1500">
                <a:solidFill>
                  <a:srgbClr val="F0F0F0"/>
                </a:solidFill>
                <a:latin typeface="Segoe UI"/>
              </a:rPr>
              <a:t>  Weldability: very difficult — risk of cracking</a:t>
            </a:r>
          </a:p>
          <a:p>
            <a:pPr>
              <a:spcAft>
                <a:spcPts val="400"/>
              </a:spcAft>
            </a:pPr>
            <a:r>
              <a:rPr sz="1500">
                <a:solidFill>
                  <a:srgbClr val="F0F0F0"/>
                </a:solidFill>
                <a:latin typeface="Segoe UI"/>
              </a:rPr>
              <a:t>  Density: 7.86 g/cm³</a:t>
            </a:r>
          </a:p>
          <a:p>
            <a:pPr>
              <a:spcAft>
                <a:spcPts val="400"/>
              </a:spcAft>
            </a:pPr>
            <a:r>
              <a:rPr sz="1500">
                <a:solidFill>
                  <a:srgbClr val="F0F0F0"/>
                </a:solidFill>
                <a:latin typeface="Segoe UI"/>
              </a:rPr>
              <a:t>  Magnetic: yes</a:t>
            </a:r>
          </a:p>
          <a:p>
            <a:pPr>
              <a:spcAft>
                <a:spcPts val="400"/>
              </a:spcAft>
            </a:pPr>
            <a:r>
              <a:rPr sz="1500">
                <a:solidFill>
                  <a:srgbClr val="F0F0F0"/>
                </a:solidFill>
                <a:latin typeface="Segoe UI"/>
              </a:rPr>
              <a:t>  Corrosion: moderate (D2 has 12% chromium — semi-stainless)</a:t>
            </a:r>
          </a:p>
          <a:p>
            <a:pPr>
              <a:spcAft>
                <a:spcPts val="400"/>
              </a:spcAft>
            </a:pPr>
            <a:r>
              <a:rPr sz="1500">
                <a:solidFill>
                  <a:srgbClr val="F0F0F0"/>
                </a:solidFill>
                <a:latin typeface="Segoe UI"/>
              </a:rPr>
              <a:t>  Carbon: 1.0% (A2) to 1.5% (D2) — very high carbon</a:t>
            </a:r>
          </a:p>
          <a:p>
            <a:pPr>
              <a:spcAft>
                <a:spcPts val="400"/>
              </a:spcAft>
            </a:pPr>
            <a:r>
              <a:rPr sz="1500">
                <a:solidFill>
                  <a:srgbClr val="F0F0F0"/>
                </a:solidFill>
                <a:latin typeface="Segoe UI"/>
              </a:rPr>
              <a:t>  Used for: dies, punches, cutting tools, blades, jigs</a:t>
            </a:r>
          </a:p>
          <a:p>
            <a:pPr>
              <a:spcAft>
                <a:spcPts val="400"/>
              </a:spcAft>
            </a:pPr>
            <a:r>
              <a:rPr sz="1500">
                <a:solidFill>
                  <a:srgbClr val="F0F0F0"/>
                </a:solidFill>
                <a:latin typeface="Segoe UI"/>
              </a:rPr>
              <a:t>  The "exotic hardwood" of metals — specialized, unforgiving</a:t>
            </a:r>
          </a:p>
        </p:txBody>
      </p:sp>
      <p:pic>
        <p:nvPicPr>
          <p:cNvPr id="5" name="Picture 4" descr="mild-steel.jpg"/>
          <p:cNvPicPr>
            <a:picLocks noChangeAspect="1"/>
          </p:cNvPicPr>
          <p:nvPr/>
        </p:nvPicPr>
        <p:blipFill>
          <a:blip r:embed="rId3"/>
          <a:stretch>
            <a:fillRect/>
          </a:stretch>
        </p:blipFill>
        <p:spPr>
          <a:xfrm>
            <a:off x="7315200" y="1188720"/>
            <a:ext cx="4389120" cy="2560320"/>
          </a:xfrm>
          <a:prstGeom prst="rect">
            <a:avLst/>
          </a:prstGeom>
        </p:spPr>
      </p:pic>
      <p:pic>
        <p:nvPicPr>
          <p:cNvPr id="6" name="Picture 5" descr="mild-steel-project.jpg"/>
          <p:cNvPicPr>
            <a:picLocks noChangeAspect="1"/>
          </p:cNvPicPr>
          <p:nvPr/>
        </p:nvPicPr>
        <p:blipFill>
          <a:blip r:embed="rId4"/>
          <a:stretch>
            <a:fillRect/>
          </a:stretch>
        </p:blipFill>
        <p:spPr>
          <a:xfrm>
            <a:off x="7315200" y="3931920"/>
            <a:ext cx="4389120" cy="25603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731520"/>
          </a:xfrm>
          <a:prstGeom prst="rect">
            <a:avLst/>
          </a:prstGeom>
          <a:noFill/>
        </p:spPr>
        <p:txBody>
          <a:bodyPr wrap="none">
            <a:spAutoFit/>
          </a:bodyPr>
          <a:lstStyle/>
          <a:p>
            <a:r>
              <a:rPr sz="3600" b="1">
                <a:solidFill>
                  <a:srgbClr val="F0F0F0"/>
                </a:solidFill>
                <a:latin typeface="Segoe UI"/>
              </a:rPr>
              <a:t>Cast Iron </a:t>
            </a:r>
            <a:r>
              <a:rPr sz="2400">
                <a:solidFill>
                  <a:srgbClr val="C0C0C0"/>
                </a:solidFill>
                <a:latin typeface="Segoe UI"/>
              </a:rPr>
              <a:t>(Grey / Ductile)</a:t>
            </a:r>
          </a:p>
        </p:txBody>
      </p:sp>
      <p:sp>
        <p:nvSpPr>
          <p:cNvPr id="3" name="Rectangle 2"/>
          <p:cNvSpPr/>
          <p:nvPr/>
        </p:nvSpPr>
        <p:spPr>
          <a:xfrm>
            <a:off x="548640" y="914400"/>
            <a:ext cx="2743200" cy="38100"/>
          </a:xfrm>
          <a:prstGeom prst="rect">
            <a:avLst/>
          </a:prstGeom>
          <a:solidFill>
            <a:srgbClr val="E2B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188720"/>
            <a:ext cx="6400800" cy="5486400"/>
          </a:xfrm>
          <a:prstGeom prst="rect">
            <a:avLst/>
          </a:prstGeom>
          <a:noFill/>
        </p:spPr>
        <p:txBody>
          <a:bodyPr wrap="square">
            <a:spAutoFit/>
          </a:bodyPr>
          <a:lstStyle/>
          <a:p>
            <a:pPr>
              <a:spcAft>
                <a:spcPts val="400"/>
              </a:spcAft>
            </a:pPr>
            <a:r>
              <a:rPr sz="1500">
                <a:solidFill>
                  <a:srgbClr val="F0F0F0"/>
                </a:solidFill>
                <a:latin typeface="Segoe UI"/>
              </a:rPr>
              <a:t>  FERROUS</a:t>
            </a:r>
          </a:p>
          <a:p>
            <a:pPr>
              <a:spcAft>
                <a:spcPts val="400"/>
              </a:spcAft>
            </a:pPr>
            <a:r>
              <a:rPr sz="1500">
                <a:solidFill>
                  <a:srgbClr val="F0F0F0"/>
                </a:solidFill>
                <a:latin typeface="Segoe UI"/>
              </a:rPr>
              <a:t>  Color: dark grey, rough sandy surface (as-cast)</a:t>
            </a:r>
          </a:p>
          <a:p>
            <a:pPr>
              <a:spcAft>
                <a:spcPts val="400"/>
              </a:spcAft>
            </a:pPr>
            <a:r>
              <a:rPr sz="1500">
                <a:solidFill>
                  <a:srgbClr val="F0F0F0"/>
                </a:solidFill>
                <a:latin typeface="Segoe UI"/>
              </a:rPr>
              <a:t>  Hardness: medium-high (Brinell ~200 grey, ~250 ductile)</a:t>
            </a:r>
          </a:p>
          <a:p>
            <a:pPr>
              <a:spcAft>
                <a:spcPts val="400"/>
              </a:spcAft>
            </a:pPr>
            <a:r>
              <a:rPr sz="1500">
                <a:solidFill>
                  <a:srgbClr val="F0F0F0"/>
                </a:solidFill>
                <a:latin typeface="Segoe UI"/>
              </a:rPr>
              <a:t>  Machinability: excellent (grey iron) — chips are powder/dust</a:t>
            </a:r>
          </a:p>
          <a:p>
            <a:pPr>
              <a:spcAft>
                <a:spcPts val="400"/>
              </a:spcAft>
            </a:pPr>
            <a:r>
              <a:rPr sz="1500">
                <a:solidFill>
                  <a:srgbClr val="F0F0F0"/>
                </a:solidFill>
                <a:latin typeface="Segoe UI"/>
              </a:rPr>
              <a:t>  Weldability: very difficult — preheating and special rods required</a:t>
            </a:r>
          </a:p>
          <a:p>
            <a:pPr>
              <a:spcAft>
                <a:spcPts val="400"/>
              </a:spcAft>
            </a:pPr>
            <a:r>
              <a:rPr sz="1500">
                <a:solidFill>
                  <a:srgbClr val="F0F0F0"/>
                </a:solidFill>
                <a:latin typeface="Segoe UI"/>
              </a:rPr>
              <a:t>  Density: 7.15 g/cm³ (slightly lighter than steel)</a:t>
            </a:r>
          </a:p>
          <a:p>
            <a:pPr>
              <a:spcAft>
                <a:spcPts val="400"/>
              </a:spcAft>
            </a:pPr>
            <a:r>
              <a:rPr sz="1500">
                <a:solidFill>
                  <a:srgbClr val="F0F0F0"/>
                </a:solidFill>
                <a:latin typeface="Segoe UI"/>
              </a:rPr>
              <a:t>  Magnetic: yes</a:t>
            </a:r>
          </a:p>
          <a:p>
            <a:pPr>
              <a:spcAft>
                <a:spcPts val="400"/>
              </a:spcAft>
            </a:pPr>
            <a:r>
              <a:rPr sz="1500">
                <a:solidFill>
                  <a:srgbClr val="F0F0F0"/>
                </a:solidFill>
                <a:latin typeface="Segoe UI"/>
              </a:rPr>
              <a:t>  Corrosion: rusts, but slower than mild steel</a:t>
            </a:r>
          </a:p>
          <a:p>
            <a:pPr>
              <a:spcAft>
                <a:spcPts val="400"/>
              </a:spcAft>
            </a:pPr>
            <a:r>
              <a:rPr sz="1500">
                <a:solidFill>
                  <a:srgbClr val="F0F0F0"/>
                </a:solidFill>
                <a:latin typeface="Segoe UI"/>
              </a:rPr>
              <a:t>  Carbon: 2-4% — much higher than any steel</a:t>
            </a:r>
          </a:p>
          <a:p>
            <a:pPr>
              <a:spcAft>
                <a:spcPts val="400"/>
              </a:spcAft>
            </a:pPr>
            <a:r>
              <a:rPr sz="1500">
                <a:solidFill>
                  <a:srgbClr val="F0F0F0"/>
                </a:solidFill>
                <a:latin typeface="Segoe UI"/>
              </a:rPr>
              <a:t>  Brittle — does NOT bend, it snaps</a:t>
            </a:r>
          </a:p>
          <a:p>
            <a:pPr>
              <a:spcAft>
                <a:spcPts val="400"/>
              </a:spcAft>
            </a:pPr>
            <a:r>
              <a:rPr sz="1500">
                <a:solidFill>
                  <a:srgbClr val="F0F0F0"/>
                </a:solidFill>
                <a:latin typeface="Segoe UI"/>
              </a:rPr>
              <a:t>  The "workhorse" of machine frames — every lathe and mill sits on it</a:t>
            </a:r>
          </a:p>
        </p:txBody>
      </p:sp>
      <p:pic>
        <p:nvPicPr>
          <p:cNvPr id="5" name="Picture 4" descr="mild-steel.jpg"/>
          <p:cNvPicPr>
            <a:picLocks noChangeAspect="1"/>
          </p:cNvPicPr>
          <p:nvPr/>
        </p:nvPicPr>
        <p:blipFill>
          <a:blip r:embed="rId3"/>
          <a:stretch>
            <a:fillRect/>
          </a:stretch>
        </p:blipFill>
        <p:spPr>
          <a:xfrm>
            <a:off x="7315200" y="1188720"/>
            <a:ext cx="4389120" cy="2560320"/>
          </a:xfrm>
          <a:prstGeom prst="rect">
            <a:avLst/>
          </a:prstGeom>
        </p:spPr>
      </p:pic>
      <p:pic>
        <p:nvPicPr>
          <p:cNvPr id="6" name="Picture 5" descr="mild-steel-project.jpg"/>
          <p:cNvPicPr>
            <a:picLocks noChangeAspect="1"/>
          </p:cNvPicPr>
          <p:nvPr/>
        </p:nvPicPr>
        <p:blipFill>
          <a:blip r:embed="rId4"/>
          <a:stretch>
            <a:fillRect/>
          </a:stretch>
        </p:blipFill>
        <p:spPr>
          <a:xfrm>
            <a:off x="7315200" y="3931920"/>
            <a:ext cx="4389120" cy="25603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731520"/>
          </a:xfrm>
          <a:prstGeom prst="rect">
            <a:avLst/>
          </a:prstGeom>
          <a:noFill/>
        </p:spPr>
        <p:txBody>
          <a:bodyPr wrap="none">
            <a:spAutoFit/>
          </a:bodyPr>
          <a:lstStyle/>
          <a:p>
            <a:pPr>
              <a:defRPr sz="3600" b="1">
                <a:solidFill>
                  <a:srgbClr val="F0F0F0"/>
                </a:solidFill>
                <a:latin typeface="Segoe UI"/>
              </a:defRPr>
            </a:pPr>
            <a:r>
              <a:t>6061 Aluminum</a:t>
            </a:r>
          </a:p>
        </p:txBody>
      </p:sp>
      <p:sp>
        <p:nvSpPr>
          <p:cNvPr id="3" name="Rectangle 2"/>
          <p:cNvSpPr/>
          <p:nvPr/>
        </p:nvSpPr>
        <p:spPr>
          <a:xfrm>
            <a:off x="548640" y="914400"/>
            <a:ext cx="2743200" cy="38100"/>
          </a:xfrm>
          <a:prstGeom prst="rect">
            <a:avLst/>
          </a:prstGeom>
          <a:solidFill>
            <a:srgbClr val="E2B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188720"/>
            <a:ext cx="6400800" cy="5486400"/>
          </a:xfrm>
          <a:prstGeom prst="rect">
            <a:avLst/>
          </a:prstGeom>
          <a:noFill/>
        </p:spPr>
        <p:txBody>
          <a:bodyPr wrap="square">
            <a:spAutoFit/>
          </a:bodyPr>
          <a:lstStyle/>
          <a:p>
            <a:pPr>
              <a:spcAft>
                <a:spcPts val="400"/>
              </a:spcAft>
            </a:pPr>
            <a:r>
              <a:rPr sz="1500">
                <a:solidFill>
                  <a:srgbClr val="F0F0F0"/>
                </a:solidFill>
                <a:latin typeface="Segoe UI"/>
              </a:rPr>
              <a:t>  NON-FERROUS</a:t>
            </a:r>
          </a:p>
          <a:p>
            <a:pPr>
              <a:spcAft>
                <a:spcPts val="400"/>
              </a:spcAft>
            </a:pPr>
            <a:r>
              <a:rPr sz="1500">
                <a:solidFill>
                  <a:srgbClr val="F0F0F0"/>
                </a:solidFill>
                <a:latin typeface="Segoe UI"/>
              </a:rPr>
              <a:t>  Color: silver-white, bright</a:t>
            </a:r>
          </a:p>
          <a:p>
            <a:pPr>
              <a:spcAft>
                <a:spcPts val="400"/>
              </a:spcAft>
            </a:pPr>
            <a:r>
              <a:rPr sz="1500">
                <a:solidFill>
                  <a:srgbClr val="F0F0F0"/>
                </a:solidFill>
                <a:latin typeface="Segoe UI"/>
              </a:rPr>
              <a:t>  Hardness: medium (Brinell ~95)</a:t>
            </a:r>
          </a:p>
          <a:p>
            <a:pPr>
              <a:spcAft>
                <a:spcPts val="400"/>
              </a:spcAft>
            </a:pPr>
            <a:r>
              <a:rPr sz="1500">
                <a:solidFill>
                  <a:srgbClr val="F0F0F0"/>
                </a:solidFill>
                <a:latin typeface="Segoe UI"/>
              </a:rPr>
              <a:t>  Machinability: very good</a:t>
            </a:r>
          </a:p>
          <a:p>
            <a:pPr>
              <a:spcAft>
                <a:spcPts val="400"/>
              </a:spcAft>
            </a:pPr>
            <a:r>
              <a:rPr sz="1500">
                <a:solidFill>
                  <a:srgbClr val="F0F0F0"/>
                </a:solidFill>
                <a:latin typeface="Segoe UI"/>
              </a:rPr>
              <a:t>  Weldability: weldable (TIG preferred, MIG possible)</a:t>
            </a:r>
          </a:p>
          <a:p>
            <a:pPr>
              <a:spcAft>
                <a:spcPts val="400"/>
              </a:spcAft>
            </a:pPr>
            <a:r>
              <a:rPr sz="1500">
                <a:solidFill>
                  <a:srgbClr val="F0F0F0"/>
                </a:solidFill>
                <a:latin typeface="Segoe UI"/>
              </a:rPr>
              <a:t>  Density: 2.70 g/cm³ (~1/3 the weight of steel)</a:t>
            </a:r>
          </a:p>
          <a:p>
            <a:pPr>
              <a:spcAft>
                <a:spcPts val="400"/>
              </a:spcAft>
            </a:pPr>
            <a:r>
              <a:rPr sz="1500">
                <a:solidFill>
                  <a:srgbClr val="F0F0F0"/>
                </a:solidFill>
                <a:latin typeface="Segoe UI"/>
              </a:rPr>
              <a:t>  Magnetic: no</a:t>
            </a:r>
          </a:p>
          <a:p>
            <a:pPr>
              <a:spcAft>
                <a:spcPts val="400"/>
              </a:spcAft>
            </a:pPr>
            <a:r>
              <a:rPr sz="1500">
                <a:solidFill>
                  <a:srgbClr val="F0F0F0"/>
                </a:solidFill>
                <a:latin typeface="Segoe UI"/>
              </a:rPr>
              <a:t>  Corrosion: naturally resistant (oxide layer)</a:t>
            </a:r>
          </a:p>
          <a:p>
            <a:pPr>
              <a:spcAft>
                <a:spcPts val="400"/>
              </a:spcAft>
            </a:pPr>
            <a:r>
              <a:rPr sz="1500">
                <a:solidFill>
                  <a:srgbClr val="F0F0F0"/>
                </a:solidFill>
                <a:latin typeface="Segoe UI"/>
              </a:rPr>
              <a:t>  Alloy series: 6xxx (magnesium + silicon)</a:t>
            </a:r>
          </a:p>
          <a:p>
            <a:pPr>
              <a:spcAft>
                <a:spcPts val="400"/>
              </a:spcAft>
            </a:pPr>
            <a:r>
              <a:rPr sz="1500">
                <a:solidFill>
                  <a:srgbClr val="F0F0F0"/>
                </a:solidFill>
                <a:latin typeface="Segoe UI"/>
              </a:rPr>
              <a:t>  Heat treatable — T6 temper is strongest</a:t>
            </a:r>
          </a:p>
          <a:p>
            <a:pPr>
              <a:spcAft>
                <a:spcPts val="400"/>
              </a:spcAft>
            </a:pPr>
            <a:r>
              <a:rPr sz="1500">
                <a:solidFill>
                  <a:srgbClr val="F0F0F0"/>
                </a:solidFill>
                <a:latin typeface="Segoe UI"/>
              </a:rPr>
              <a:t>  The "poplar" of metals — light, versatile, everywhere</a:t>
            </a:r>
          </a:p>
        </p:txBody>
      </p:sp>
      <p:pic>
        <p:nvPicPr>
          <p:cNvPr id="5" name="Picture 4" descr="aluminum.jpg"/>
          <p:cNvPicPr>
            <a:picLocks noChangeAspect="1"/>
          </p:cNvPicPr>
          <p:nvPr/>
        </p:nvPicPr>
        <p:blipFill>
          <a:blip r:embed="rId3"/>
          <a:stretch>
            <a:fillRect/>
          </a:stretch>
        </p:blipFill>
        <p:spPr>
          <a:xfrm>
            <a:off x="7315200" y="1188720"/>
            <a:ext cx="4389120" cy="2560320"/>
          </a:xfrm>
          <a:prstGeom prst="rect">
            <a:avLst/>
          </a:prstGeom>
        </p:spPr>
      </p:pic>
      <p:pic>
        <p:nvPicPr>
          <p:cNvPr id="6" name="Picture 5" descr="aluminum-project.jpg"/>
          <p:cNvPicPr>
            <a:picLocks noChangeAspect="1"/>
          </p:cNvPicPr>
          <p:nvPr/>
        </p:nvPicPr>
        <p:blipFill>
          <a:blip r:embed="rId4"/>
          <a:stretch>
            <a:fillRect/>
          </a:stretch>
        </p:blipFill>
        <p:spPr>
          <a:xfrm>
            <a:off x="7315200" y="3931920"/>
            <a:ext cx="4389120" cy="25603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731520"/>
          </a:xfrm>
          <a:prstGeom prst="rect">
            <a:avLst/>
          </a:prstGeom>
          <a:noFill/>
        </p:spPr>
        <p:txBody>
          <a:bodyPr wrap="none">
            <a:spAutoFit/>
          </a:bodyPr>
          <a:lstStyle/>
          <a:p>
            <a:r>
              <a:rPr sz="3600" b="1">
                <a:solidFill>
                  <a:srgbClr val="F0F0F0"/>
                </a:solidFill>
                <a:latin typeface="Segoe UI"/>
              </a:rPr>
              <a:t>Copper </a:t>
            </a:r>
            <a:r>
              <a:rPr sz="2400">
                <a:solidFill>
                  <a:srgbClr val="C0C0C0"/>
                </a:solidFill>
                <a:latin typeface="Segoe UI"/>
              </a:rPr>
              <a:t>(C110 / C101)</a:t>
            </a:r>
          </a:p>
        </p:txBody>
      </p:sp>
      <p:sp>
        <p:nvSpPr>
          <p:cNvPr id="3" name="Rectangle 2"/>
          <p:cNvSpPr/>
          <p:nvPr/>
        </p:nvSpPr>
        <p:spPr>
          <a:xfrm>
            <a:off x="548640" y="914400"/>
            <a:ext cx="2743200" cy="38100"/>
          </a:xfrm>
          <a:prstGeom prst="rect">
            <a:avLst/>
          </a:prstGeom>
          <a:solidFill>
            <a:srgbClr val="E2B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188720"/>
            <a:ext cx="6400800" cy="5486400"/>
          </a:xfrm>
          <a:prstGeom prst="rect">
            <a:avLst/>
          </a:prstGeom>
          <a:noFill/>
        </p:spPr>
        <p:txBody>
          <a:bodyPr wrap="square">
            <a:spAutoFit/>
          </a:bodyPr>
          <a:lstStyle/>
          <a:p>
            <a:pPr>
              <a:spcAft>
                <a:spcPts val="400"/>
              </a:spcAft>
            </a:pPr>
            <a:r>
              <a:rPr sz="1500">
                <a:solidFill>
                  <a:srgbClr val="F0F0F0"/>
                </a:solidFill>
                <a:latin typeface="Segoe UI"/>
              </a:rPr>
              <a:t>  NON-FERROUS</a:t>
            </a:r>
          </a:p>
          <a:p>
            <a:pPr>
              <a:spcAft>
                <a:spcPts val="400"/>
              </a:spcAft>
            </a:pPr>
            <a:r>
              <a:rPr sz="1500">
                <a:solidFill>
                  <a:srgbClr val="F0F0F0"/>
                </a:solidFill>
                <a:latin typeface="Segoe UI"/>
              </a:rPr>
              <a:t>  Color: distinctive reddish-orange (unmistakable)</a:t>
            </a:r>
          </a:p>
          <a:p>
            <a:pPr>
              <a:spcAft>
                <a:spcPts val="400"/>
              </a:spcAft>
            </a:pPr>
            <a:r>
              <a:rPr sz="1500">
                <a:solidFill>
                  <a:srgbClr val="F0F0F0"/>
                </a:solidFill>
                <a:latin typeface="Segoe UI"/>
              </a:rPr>
              <a:t>  Hardness: low (Brinell ~50) — very soft</a:t>
            </a:r>
          </a:p>
          <a:p>
            <a:pPr>
              <a:spcAft>
                <a:spcPts val="400"/>
              </a:spcAft>
            </a:pPr>
            <a:r>
              <a:rPr sz="1500">
                <a:solidFill>
                  <a:srgbClr val="F0F0F0"/>
                </a:solidFill>
                <a:latin typeface="Segoe UI"/>
              </a:rPr>
              <a:t>  Machinability: fair — gummy and smears</a:t>
            </a:r>
          </a:p>
          <a:p>
            <a:pPr>
              <a:spcAft>
                <a:spcPts val="400"/>
              </a:spcAft>
            </a:pPr>
            <a:r>
              <a:rPr sz="1500">
                <a:solidFill>
                  <a:srgbClr val="F0F0F0"/>
                </a:solidFill>
                <a:latin typeface="Segoe UI"/>
              </a:rPr>
              <a:t>  Weldability: solderable &amp; brazeable, TIG weldable</a:t>
            </a:r>
          </a:p>
          <a:p>
            <a:pPr>
              <a:spcAft>
                <a:spcPts val="400"/>
              </a:spcAft>
            </a:pPr>
            <a:r>
              <a:rPr sz="1500">
                <a:solidFill>
                  <a:srgbClr val="F0F0F0"/>
                </a:solidFill>
                <a:latin typeface="Segoe UI"/>
              </a:rPr>
              <a:t>  Density: 8.96 g/cm³ (heavier than steel!)</a:t>
            </a:r>
          </a:p>
          <a:p>
            <a:pPr>
              <a:spcAft>
                <a:spcPts val="400"/>
              </a:spcAft>
            </a:pPr>
            <a:r>
              <a:rPr sz="1500">
                <a:solidFill>
                  <a:srgbClr val="F0F0F0"/>
                </a:solidFill>
                <a:latin typeface="Segoe UI"/>
              </a:rPr>
              <a:t>  Magnetic: no</a:t>
            </a:r>
          </a:p>
          <a:p>
            <a:pPr>
              <a:spcAft>
                <a:spcPts val="400"/>
              </a:spcAft>
            </a:pPr>
            <a:r>
              <a:rPr sz="1500">
                <a:solidFill>
                  <a:srgbClr val="F0F0F0"/>
                </a:solidFill>
                <a:latin typeface="Segoe UI"/>
              </a:rPr>
              <a:t>  Corrosion: develops green patina (verdigris), never rusts</a:t>
            </a:r>
          </a:p>
          <a:p>
            <a:pPr>
              <a:spcAft>
                <a:spcPts val="400"/>
              </a:spcAft>
            </a:pPr>
            <a:r>
              <a:rPr sz="1500">
                <a:solidFill>
                  <a:srgbClr val="F0F0F0"/>
                </a:solidFill>
                <a:latin typeface="Segoe UI"/>
              </a:rPr>
              <a:t>  Conductivity: best of any common metal (electrical &amp; thermal)</a:t>
            </a:r>
          </a:p>
          <a:p>
            <a:pPr>
              <a:spcAft>
                <a:spcPts val="400"/>
              </a:spcAft>
            </a:pPr>
            <a:r>
              <a:rPr sz="1500">
                <a:solidFill>
                  <a:srgbClr val="F0F0F0"/>
                </a:solidFill>
                <a:latin typeface="Segoe UI"/>
              </a:rPr>
              <a:t>  Cost: ~$4-5/lb — expensive, but scrap value is high</a:t>
            </a:r>
          </a:p>
          <a:p>
            <a:pPr>
              <a:spcAft>
                <a:spcPts val="400"/>
              </a:spcAft>
            </a:pPr>
            <a:r>
              <a:rPr sz="1500">
                <a:solidFill>
                  <a:srgbClr val="F0F0F0"/>
                </a:solidFill>
                <a:latin typeface="Segoe UI"/>
              </a:rPr>
              <a:t>  The "cherry" of metals — beautiful, functional, mid-range difficulty</a:t>
            </a:r>
          </a:p>
        </p:txBody>
      </p:sp>
      <p:pic>
        <p:nvPicPr>
          <p:cNvPr id="5" name="Picture 4" descr="nonferrous-copper.jpg"/>
          <p:cNvPicPr>
            <a:picLocks noChangeAspect="1"/>
          </p:cNvPicPr>
          <p:nvPr/>
        </p:nvPicPr>
        <p:blipFill>
          <a:blip r:embed="rId3"/>
          <a:stretch>
            <a:fillRect/>
          </a:stretch>
        </p:blipFill>
        <p:spPr>
          <a:xfrm>
            <a:off x="7315200" y="1188720"/>
            <a:ext cx="4389120" cy="2560320"/>
          </a:xfrm>
          <a:prstGeom prst="rect">
            <a:avLst/>
          </a:prstGeom>
        </p:spPr>
      </p:pic>
      <p:pic>
        <p:nvPicPr>
          <p:cNvPr id="6" name="Picture 5" descr="nonferrous-copper.jpg"/>
          <p:cNvPicPr>
            <a:picLocks noChangeAspect="1"/>
          </p:cNvPicPr>
          <p:nvPr/>
        </p:nvPicPr>
        <p:blipFill>
          <a:blip r:embed="rId3"/>
          <a:stretch>
            <a:fillRect/>
          </a:stretch>
        </p:blipFill>
        <p:spPr>
          <a:xfrm>
            <a:off x="7315200" y="3931920"/>
            <a:ext cx="4389120" cy="25603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731520"/>
          </a:xfrm>
          <a:prstGeom prst="rect">
            <a:avLst/>
          </a:prstGeom>
          <a:noFill/>
        </p:spPr>
        <p:txBody>
          <a:bodyPr wrap="none">
            <a:spAutoFit/>
          </a:bodyPr>
          <a:lstStyle/>
          <a:p>
            <a:r>
              <a:rPr sz="3600" b="1">
                <a:solidFill>
                  <a:srgbClr val="F0F0F0"/>
                </a:solidFill>
                <a:latin typeface="Segoe UI"/>
              </a:rPr>
              <a:t>Brass </a:t>
            </a:r>
            <a:r>
              <a:rPr sz="2400">
                <a:solidFill>
                  <a:srgbClr val="C0C0C0"/>
                </a:solidFill>
                <a:latin typeface="Segoe UI"/>
              </a:rPr>
              <a:t>(360 Free-Machining / 260 Cartridge)</a:t>
            </a:r>
          </a:p>
        </p:txBody>
      </p:sp>
      <p:sp>
        <p:nvSpPr>
          <p:cNvPr id="3" name="Rectangle 2"/>
          <p:cNvSpPr/>
          <p:nvPr/>
        </p:nvSpPr>
        <p:spPr>
          <a:xfrm>
            <a:off x="548640" y="914400"/>
            <a:ext cx="2743200" cy="38100"/>
          </a:xfrm>
          <a:prstGeom prst="rect">
            <a:avLst/>
          </a:prstGeom>
          <a:solidFill>
            <a:srgbClr val="E2B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188720"/>
            <a:ext cx="6400800" cy="5486400"/>
          </a:xfrm>
          <a:prstGeom prst="rect">
            <a:avLst/>
          </a:prstGeom>
          <a:noFill/>
        </p:spPr>
        <p:txBody>
          <a:bodyPr wrap="square">
            <a:spAutoFit/>
          </a:bodyPr>
          <a:lstStyle/>
          <a:p>
            <a:pPr>
              <a:spcAft>
                <a:spcPts val="400"/>
              </a:spcAft>
            </a:pPr>
            <a:r>
              <a:rPr sz="1500">
                <a:solidFill>
                  <a:srgbClr val="F0F0F0"/>
                </a:solidFill>
                <a:latin typeface="Segoe UI"/>
              </a:rPr>
              <a:t>  NON-FERROUS</a:t>
            </a:r>
          </a:p>
          <a:p>
            <a:pPr>
              <a:spcAft>
                <a:spcPts val="400"/>
              </a:spcAft>
            </a:pPr>
            <a:r>
              <a:rPr sz="1500">
                <a:solidFill>
                  <a:srgbClr val="F0F0F0"/>
                </a:solidFill>
                <a:latin typeface="Segoe UI"/>
              </a:rPr>
              <a:t>  Color: gold/yellow — unmistakable</a:t>
            </a:r>
          </a:p>
          <a:p>
            <a:pPr>
              <a:spcAft>
                <a:spcPts val="400"/>
              </a:spcAft>
            </a:pPr>
            <a:r>
              <a:rPr sz="1500">
                <a:solidFill>
                  <a:srgbClr val="F0F0F0"/>
                </a:solidFill>
                <a:latin typeface="Segoe UI"/>
              </a:rPr>
              <a:t>  Hardness: low-medium (Brinell ~120 for 360 brass)</a:t>
            </a:r>
          </a:p>
          <a:p>
            <a:pPr>
              <a:spcAft>
                <a:spcPts val="400"/>
              </a:spcAft>
            </a:pPr>
            <a:r>
              <a:rPr sz="1500">
                <a:solidFill>
                  <a:srgbClr val="F0F0F0"/>
                </a:solidFill>
                <a:latin typeface="Segoe UI"/>
              </a:rPr>
              <a:t>  Machinability: outstanding — the best machining metal</a:t>
            </a:r>
          </a:p>
          <a:p>
            <a:pPr>
              <a:spcAft>
                <a:spcPts val="400"/>
              </a:spcAft>
            </a:pPr>
            <a:r>
              <a:rPr sz="1500">
                <a:solidFill>
                  <a:srgbClr val="F0F0F0"/>
                </a:solidFill>
                <a:latin typeface="Segoe UI"/>
              </a:rPr>
              <a:t>  Weldability: solderable &amp; brazeable easily</a:t>
            </a:r>
          </a:p>
          <a:p>
            <a:pPr>
              <a:spcAft>
                <a:spcPts val="400"/>
              </a:spcAft>
            </a:pPr>
            <a:r>
              <a:rPr sz="1500">
                <a:solidFill>
                  <a:srgbClr val="F0F0F0"/>
                </a:solidFill>
                <a:latin typeface="Segoe UI"/>
              </a:rPr>
              <a:t>  Density: 8.50 g/cm³ (heavier than steel)</a:t>
            </a:r>
          </a:p>
          <a:p>
            <a:pPr>
              <a:spcAft>
                <a:spcPts val="400"/>
              </a:spcAft>
            </a:pPr>
            <a:r>
              <a:rPr sz="1500">
                <a:solidFill>
                  <a:srgbClr val="F0F0F0"/>
                </a:solidFill>
                <a:latin typeface="Segoe UI"/>
              </a:rPr>
              <a:t>  Magnetic: no</a:t>
            </a:r>
          </a:p>
          <a:p>
            <a:pPr>
              <a:spcAft>
                <a:spcPts val="400"/>
              </a:spcAft>
            </a:pPr>
            <a:r>
              <a:rPr sz="1500">
                <a:solidFill>
                  <a:srgbClr val="F0F0F0"/>
                </a:solidFill>
                <a:latin typeface="Segoe UI"/>
              </a:rPr>
              <a:t>  Corrosion: excellent resistance, does not rust</a:t>
            </a:r>
          </a:p>
          <a:p>
            <a:pPr>
              <a:spcAft>
                <a:spcPts val="400"/>
              </a:spcAft>
            </a:pPr>
            <a:r>
              <a:rPr sz="1500">
                <a:solidFill>
                  <a:srgbClr val="F0F0F0"/>
                </a:solidFill>
                <a:latin typeface="Segoe UI"/>
              </a:rPr>
              <a:t>  Composition: copper + zinc alloy (60-70% Cu, 30-40% Zn)</a:t>
            </a:r>
          </a:p>
          <a:p>
            <a:pPr>
              <a:spcAft>
                <a:spcPts val="400"/>
              </a:spcAft>
            </a:pPr>
            <a:r>
              <a:rPr sz="1500">
                <a:solidFill>
                  <a:srgbClr val="F0F0F0"/>
                </a:solidFill>
                <a:latin typeface="Segoe UI"/>
              </a:rPr>
              <a:t>  Non-sparking — safe for explosive environments</a:t>
            </a:r>
          </a:p>
          <a:p>
            <a:pPr>
              <a:spcAft>
                <a:spcPts val="400"/>
              </a:spcAft>
            </a:pPr>
            <a:r>
              <a:rPr sz="1500">
                <a:solidFill>
                  <a:srgbClr val="F0F0F0"/>
                </a:solidFill>
                <a:latin typeface="Segoe UI"/>
              </a:rPr>
              <a:t>  The "maple" of metals — machines beautifully, premium look</a:t>
            </a:r>
          </a:p>
        </p:txBody>
      </p:sp>
      <p:pic>
        <p:nvPicPr>
          <p:cNvPr id="5" name="Picture 4" descr="nonferrous-copper.jpg"/>
          <p:cNvPicPr>
            <a:picLocks noChangeAspect="1"/>
          </p:cNvPicPr>
          <p:nvPr/>
        </p:nvPicPr>
        <p:blipFill>
          <a:blip r:embed="rId3"/>
          <a:stretch>
            <a:fillRect/>
          </a:stretch>
        </p:blipFill>
        <p:spPr>
          <a:xfrm>
            <a:off x="7315200" y="1188720"/>
            <a:ext cx="4389120" cy="2560320"/>
          </a:xfrm>
          <a:prstGeom prst="rect">
            <a:avLst/>
          </a:prstGeom>
        </p:spPr>
      </p:pic>
      <p:pic>
        <p:nvPicPr>
          <p:cNvPr id="6" name="Picture 5" descr="nonferrous-copper.jpg"/>
          <p:cNvPicPr>
            <a:picLocks noChangeAspect="1"/>
          </p:cNvPicPr>
          <p:nvPr/>
        </p:nvPicPr>
        <p:blipFill>
          <a:blip r:embed="rId3"/>
          <a:stretch>
            <a:fillRect/>
          </a:stretch>
        </p:blipFill>
        <p:spPr>
          <a:xfrm>
            <a:off x="7315200" y="3931920"/>
            <a:ext cx="4389120" cy="25603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731520"/>
          </a:xfrm>
          <a:prstGeom prst="rect">
            <a:avLst/>
          </a:prstGeom>
          <a:noFill/>
        </p:spPr>
        <p:txBody>
          <a:bodyPr wrap="none">
            <a:spAutoFit/>
          </a:bodyPr>
          <a:lstStyle/>
          <a:p>
            <a:r>
              <a:rPr sz="3600" b="1">
                <a:solidFill>
                  <a:srgbClr val="F0F0F0"/>
                </a:solidFill>
                <a:latin typeface="Segoe UI"/>
              </a:rPr>
              <a:t>Titanium </a:t>
            </a:r>
            <a:r>
              <a:rPr sz="2400">
                <a:solidFill>
                  <a:srgbClr val="C0C0C0"/>
                </a:solidFill>
                <a:latin typeface="Segoe UI"/>
              </a:rPr>
              <a:t>(Grade 5 / Ti-6Al-4V)</a:t>
            </a:r>
          </a:p>
        </p:txBody>
      </p:sp>
      <p:sp>
        <p:nvSpPr>
          <p:cNvPr id="3" name="Rectangle 2"/>
          <p:cNvSpPr/>
          <p:nvPr/>
        </p:nvSpPr>
        <p:spPr>
          <a:xfrm>
            <a:off x="548640" y="914400"/>
            <a:ext cx="2743200" cy="38100"/>
          </a:xfrm>
          <a:prstGeom prst="rect">
            <a:avLst/>
          </a:prstGeom>
          <a:solidFill>
            <a:srgbClr val="E2B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188720"/>
            <a:ext cx="6400800" cy="5486400"/>
          </a:xfrm>
          <a:prstGeom prst="rect">
            <a:avLst/>
          </a:prstGeom>
          <a:noFill/>
        </p:spPr>
        <p:txBody>
          <a:bodyPr wrap="square">
            <a:spAutoFit/>
          </a:bodyPr>
          <a:lstStyle/>
          <a:p>
            <a:pPr>
              <a:spcAft>
                <a:spcPts val="400"/>
              </a:spcAft>
            </a:pPr>
            <a:r>
              <a:rPr sz="1500">
                <a:solidFill>
                  <a:srgbClr val="F0F0F0"/>
                </a:solidFill>
                <a:latin typeface="Segoe UI"/>
              </a:rPr>
              <a:t>  NON-FERROUS</a:t>
            </a:r>
          </a:p>
          <a:p>
            <a:pPr>
              <a:spcAft>
                <a:spcPts val="400"/>
              </a:spcAft>
            </a:pPr>
            <a:r>
              <a:rPr sz="1500">
                <a:solidFill>
                  <a:srgbClr val="F0F0F0"/>
                </a:solidFill>
                <a:latin typeface="Segoe UI"/>
              </a:rPr>
              <a:t>  Color: medium grey with slight blue/purple tint</a:t>
            </a:r>
          </a:p>
          <a:p>
            <a:pPr>
              <a:spcAft>
                <a:spcPts val="400"/>
              </a:spcAft>
            </a:pPr>
            <a:r>
              <a:rPr sz="1500">
                <a:solidFill>
                  <a:srgbClr val="F0F0F0"/>
                </a:solidFill>
                <a:latin typeface="Segoe UI"/>
              </a:rPr>
              <a:t>  Hardness: high (Brinell ~334 for Grade 5)</a:t>
            </a:r>
          </a:p>
          <a:p>
            <a:pPr>
              <a:spcAft>
                <a:spcPts val="400"/>
              </a:spcAft>
            </a:pPr>
            <a:r>
              <a:rPr sz="1500">
                <a:solidFill>
                  <a:srgbClr val="F0F0F0"/>
                </a:solidFill>
                <a:latin typeface="Segoe UI"/>
              </a:rPr>
              <a:t>  Machinability: poor — generates extreme heat</a:t>
            </a:r>
          </a:p>
          <a:p>
            <a:pPr>
              <a:spcAft>
                <a:spcPts val="400"/>
              </a:spcAft>
            </a:pPr>
            <a:r>
              <a:rPr sz="1500">
                <a:solidFill>
                  <a:srgbClr val="F0F0F0"/>
                </a:solidFill>
                <a:latin typeface="Segoe UI"/>
              </a:rPr>
              <a:t>  Weldability: TIG only, requires argon shielding everywhere</a:t>
            </a:r>
          </a:p>
          <a:p>
            <a:pPr>
              <a:spcAft>
                <a:spcPts val="400"/>
              </a:spcAft>
            </a:pPr>
            <a:r>
              <a:rPr sz="1500">
                <a:solidFill>
                  <a:srgbClr val="F0F0F0"/>
                </a:solidFill>
                <a:latin typeface="Segoe UI"/>
              </a:rPr>
              <a:t>  Density: 4.43 g/cm³ (lighter than steel, heavier than aluminum)</a:t>
            </a:r>
          </a:p>
          <a:p>
            <a:pPr>
              <a:spcAft>
                <a:spcPts val="400"/>
              </a:spcAft>
            </a:pPr>
            <a:r>
              <a:rPr sz="1500">
                <a:solidFill>
                  <a:srgbClr val="F0F0F0"/>
                </a:solidFill>
                <a:latin typeface="Segoe UI"/>
              </a:rPr>
              <a:t>  Magnetic: no</a:t>
            </a:r>
          </a:p>
          <a:p>
            <a:pPr>
              <a:spcAft>
                <a:spcPts val="400"/>
              </a:spcAft>
            </a:pPr>
            <a:r>
              <a:rPr sz="1500">
                <a:solidFill>
                  <a:srgbClr val="F0F0F0"/>
                </a:solidFill>
                <a:latin typeface="Segoe UI"/>
              </a:rPr>
              <a:t>  Corrosion: exceptional — nearly immune</a:t>
            </a:r>
          </a:p>
          <a:p>
            <a:pPr>
              <a:spcAft>
                <a:spcPts val="400"/>
              </a:spcAft>
            </a:pPr>
            <a:r>
              <a:rPr sz="1500">
                <a:solidFill>
                  <a:srgbClr val="F0F0F0"/>
                </a:solidFill>
                <a:latin typeface="Segoe UI"/>
              </a:rPr>
              <a:t>  Strength-to-weight: best of any common metal</a:t>
            </a:r>
          </a:p>
          <a:p>
            <a:pPr>
              <a:spcAft>
                <a:spcPts val="400"/>
              </a:spcAft>
            </a:pPr>
            <a:r>
              <a:rPr sz="1500">
                <a:solidFill>
                  <a:srgbClr val="F0F0F0"/>
                </a:solidFill>
                <a:latin typeface="Segoe UI"/>
              </a:rPr>
              <a:t>  Cost: ~$15-25/lb — extremely expensive</a:t>
            </a:r>
          </a:p>
          <a:p>
            <a:pPr>
              <a:spcAft>
                <a:spcPts val="400"/>
              </a:spcAft>
            </a:pPr>
            <a:r>
              <a:rPr sz="1500">
                <a:solidFill>
                  <a:srgbClr val="F0F0F0"/>
                </a:solidFill>
                <a:latin typeface="Segoe UI"/>
              </a:rPr>
              <a:t>  The "purple heart" of metals — exotic, hard, impressive</a:t>
            </a:r>
          </a:p>
        </p:txBody>
      </p:sp>
      <p:pic>
        <p:nvPicPr>
          <p:cNvPr id="5" name="Picture 4" descr="stainless-steel.jpg"/>
          <p:cNvPicPr>
            <a:picLocks noChangeAspect="1"/>
          </p:cNvPicPr>
          <p:nvPr/>
        </p:nvPicPr>
        <p:blipFill>
          <a:blip r:embed="rId3"/>
          <a:stretch>
            <a:fillRect/>
          </a:stretch>
        </p:blipFill>
        <p:spPr>
          <a:xfrm>
            <a:off x="7315200" y="1188720"/>
            <a:ext cx="4389120" cy="2560320"/>
          </a:xfrm>
          <a:prstGeom prst="rect">
            <a:avLst/>
          </a:prstGeom>
        </p:spPr>
      </p:pic>
      <p:pic>
        <p:nvPicPr>
          <p:cNvPr id="6" name="Picture 5" descr="stainless-project.jpg"/>
          <p:cNvPicPr>
            <a:picLocks noChangeAspect="1"/>
          </p:cNvPicPr>
          <p:nvPr/>
        </p:nvPicPr>
        <p:blipFill>
          <a:blip r:embed="rId4"/>
          <a:stretch>
            <a:fillRect/>
          </a:stretch>
        </p:blipFill>
        <p:spPr>
          <a:xfrm>
            <a:off x="7315200" y="3931920"/>
            <a:ext cx="4389120" cy="25603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731520"/>
          </a:xfrm>
          <a:prstGeom prst="rect">
            <a:avLst/>
          </a:prstGeom>
          <a:noFill/>
        </p:spPr>
        <p:txBody>
          <a:bodyPr wrap="none">
            <a:spAutoFit/>
          </a:bodyPr>
          <a:lstStyle/>
          <a:p>
            <a:r>
              <a:rPr sz="3600" b="1">
                <a:solidFill>
                  <a:srgbClr val="F0F0F0"/>
                </a:solidFill>
                <a:latin typeface="Segoe UI"/>
              </a:rPr>
              <a:t>Stainless Steel </a:t>
            </a:r>
            <a:r>
              <a:rPr sz="2400">
                <a:solidFill>
                  <a:srgbClr val="C0C0C0"/>
                </a:solidFill>
                <a:latin typeface="Segoe UI"/>
              </a:rPr>
              <a:t>(304 / 316)</a:t>
            </a:r>
          </a:p>
        </p:txBody>
      </p:sp>
      <p:sp>
        <p:nvSpPr>
          <p:cNvPr id="3" name="Rectangle 2"/>
          <p:cNvSpPr/>
          <p:nvPr/>
        </p:nvSpPr>
        <p:spPr>
          <a:xfrm>
            <a:off x="548640" y="914400"/>
            <a:ext cx="2743200" cy="38100"/>
          </a:xfrm>
          <a:prstGeom prst="rect">
            <a:avLst/>
          </a:prstGeom>
          <a:solidFill>
            <a:srgbClr val="E2B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188720"/>
            <a:ext cx="6400800" cy="5486400"/>
          </a:xfrm>
          <a:prstGeom prst="rect">
            <a:avLst/>
          </a:prstGeom>
          <a:noFill/>
        </p:spPr>
        <p:txBody>
          <a:bodyPr wrap="square">
            <a:spAutoFit/>
          </a:bodyPr>
          <a:lstStyle/>
          <a:p>
            <a:pPr>
              <a:spcAft>
                <a:spcPts val="400"/>
              </a:spcAft>
            </a:pPr>
            <a:r>
              <a:rPr sz="1500">
                <a:solidFill>
                  <a:srgbClr val="F0F0F0"/>
                </a:solidFill>
                <a:latin typeface="Segoe UI"/>
              </a:rPr>
              <a:t>  FERROUS (still contains iron!)</a:t>
            </a:r>
          </a:p>
          <a:p>
            <a:pPr>
              <a:spcAft>
                <a:spcPts val="400"/>
              </a:spcAft>
            </a:pPr>
            <a:r>
              <a:rPr sz="1500">
                <a:solidFill>
                  <a:srgbClr val="F0F0F0"/>
                </a:solidFill>
                <a:latin typeface="Segoe UI"/>
              </a:rPr>
              <a:t>  Color: bright silver, stays shiny</a:t>
            </a:r>
          </a:p>
          <a:p>
            <a:pPr>
              <a:spcAft>
                <a:spcPts val="400"/>
              </a:spcAft>
            </a:pPr>
            <a:r>
              <a:rPr sz="1500">
                <a:solidFill>
                  <a:srgbClr val="F0F0F0"/>
                </a:solidFill>
                <a:latin typeface="Segoe UI"/>
              </a:rPr>
              <a:t>  Hardness: high (Brinell ~200)</a:t>
            </a:r>
          </a:p>
          <a:p>
            <a:pPr>
              <a:spcAft>
                <a:spcPts val="400"/>
              </a:spcAft>
            </a:pPr>
            <a:r>
              <a:rPr sz="1500">
                <a:solidFill>
                  <a:srgbClr val="F0F0F0"/>
                </a:solidFill>
                <a:latin typeface="Segoe UI"/>
              </a:rPr>
              <a:t>  Machinability: poor — work hardens</a:t>
            </a:r>
          </a:p>
          <a:p>
            <a:pPr>
              <a:spcAft>
                <a:spcPts val="400"/>
              </a:spcAft>
            </a:pPr>
            <a:r>
              <a:rPr sz="1500">
                <a:solidFill>
                  <a:srgbClr val="F0F0F0"/>
                </a:solidFill>
                <a:latin typeface="Segoe UI"/>
              </a:rPr>
              <a:t>  Weldability: weldable (TIG preferred)</a:t>
            </a:r>
          </a:p>
          <a:p>
            <a:pPr>
              <a:spcAft>
                <a:spcPts val="400"/>
              </a:spcAft>
            </a:pPr>
            <a:r>
              <a:rPr sz="1500">
                <a:solidFill>
                  <a:srgbClr val="F0F0F0"/>
                </a:solidFill>
                <a:latin typeface="Segoe UI"/>
              </a:rPr>
              <a:t>  Density: 8.00 g/cm³ (slightly heavier than mild steel)</a:t>
            </a:r>
          </a:p>
          <a:p>
            <a:pPr>
              <a:spcAft>
                <a:spcPts val="400"/>
              </a:spcAft>
            </a:pPr>
            <a:r>
              <a:rPr sz="1500">
                <a:solidFill>
                  <a:srgbClr val="F0F0F0"/>
                </a:solidFill>
                <a:latin typeface="Segoe UI"/>
              </a:rPr>
              <a:t>  Magnetic: depends on grade (304 weakly magnetic)</a:t>
            </a:r>
          </a:p>
          <a:p>
            <a:pPr>
              <a:spcAft>
                <a:spcPts val="400"/>
              </a:spcAft>
            </a:pPr>
            <a:r>
              <a:rPr sz="1500">
                <a:solidFill>
                  <a:srgbClr val="F0F0F0"/>
                </a:solidFill>
                <a:latin typeface="Segoe UI"/>
              </a:rPr>
              <a:t>  Corrosion: highly resistant (10.5%+ chromium)</a:t>
            </a:r>
          </a:p>
          <a:p>
            <a:pPr>
              <a:spcAft>
                <a:spcPts val="400"/>
              </a:spcAft>
            </a:pPr>
            <a:r>
              <a:rPr sz="1500">
                <a:solidFill>
                  <a:srgbClr val="F0F0F0"/>
                </a:solidFill>
                <a:latin typeface="Segoe UI"/>
              </a:rPr>
              <a:t>  Cost: ~$3-4/lb — 3-4x mild steel</a:t>
            </a:r>
          </a:p>
          <a:p>
            <a:pPr>
              <a:spcAft>
                <a:spcPts val="400"/>
              </a:spcAft>
            </a:pPr>
            <a:r>
              <a:rPr sz="1500">
                <a:solidFill>
                  <a:srgbClr val="F0F0F0"/>
                </a:solidFill>
                <a:latin typeface="Segoe UI"/>
              </a:rPr>
              <a:t>  Don't cross-contaminate with carbon steel tools!</a:t>
            </a:r>
          </a:p>
          <a:p>
            <a:pPr>
              <a:spcAft>
                <a:spcPts val="400"/>
              </a:spcAft>
            </a:pPr>
            <a:r>
              <a:rPr sz="1500">
                <a:solidFill>
                  <a:srgbClr val="F0F0F0"/>
                </a:solidFill>
                <a:latin typeface="Segoe UI"/>
              </a:rPr>
              <a:t>  The "premium" metal — worth it when corrosion matters</a:t>
            </a:r>
          </a:p>
        </p:txBody>
      </p:sp>
      <p:pic>
        <p:nvPicPr>
          <p:cNvPr id="5" name="Picture 4" descr="stainless-steel.jpg"/>
          <p:cNvPicPr>
            <a:picLocks noChangeAspect="1"/>
          </p:cNvPicPr>
          <p:nvPr/>
        </p:nvPicPr>
        <p:blipFill>
          <a:blip r:embed="rId3"/>
          <a:stretch>
            <a:fillRect/>
          </a:stretch>
        </p:blipFill>
        <p:spPr>
          <a:xfrm>
            <a:off x="7315200" y="1188720"/>
            <a:ext cx="4389120" cy="2560320"/>
          </a:xfrm>
          <a:prstGeom prst="rect">
            <a:avLst/>
          </a:prstGeom>
        </p:spPr>
      </p:pic>
      <p:pic>
        <p:nvPicPr>
          <p:cNvPr id="6" name="Picture 5" descr="stainless-project.jpg"/>
          <p:cNvPicPr>
            <a:picLocks noChangeAspect="1"/>
          </p:cNvPicPr>
          <p:nvPr/>
        </p:nvPicPr>
        <p:blipFill>
          <a:blip r:embed="rId4"/>
          <a:stretch>
            <a:fillRect/>
          </a:stretch>
        </p:blipFill>
        <p:spPr>
          <a:xfrm>
            <a:off x="7315200" y="3931920"/>
            <a:ext cx="4389120" cy="25603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731520"/>
          </a:xfrm>
          <a:prstGeom prst="rect">
            <a:avLst/>
          </a:prstGeom>
          <a:noFill/>
        </p:spPr>
        <p:txBody>
          <a:bodyPr wrap="none">
            <a:spAutoFit/>
          </a:bodyPr>
          <a:lstStyle/>
          <a:p>
            <a:pPr>
              <a:defRPr sz="3600" b="1">
                <a:solidFill>
                  <a:srgbClr val="F0F0F0"/>
                </a:solidFill>
                <a:latin typeface="Segoe UI"/>
              </a:defRPr>
            </a:pPr>
            <a:r>
              <a:t>MIG Welding</a:t>
            </a:r>
          </a:p>
        </p:txBody>
      </p:sp>
      <p:sp>
        <p:nvSpPr>
          <p:cNvPr id="3" name="Rectangle 2"/>
          <p:cNvSpPr/>
          <p:nvPr/>
        </p:nvSpPr>
        <p:spPr>
          <a:xfrm>
            <a:off x="548640" y="914400"/>
            <a:ext cx="2743200" cy="38100"/>
          </a:xfrm>
          <a:prstGeom prst="rect">
            <a:avLst/>
          </a:prstGeom>
          <a:solidFill>
            <a:srgbClr val="E2B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777240"/>
            <a:ext cx="5486400" cy="365760"/>
          </a:xfrm>
          <a:prstGeom prst="rect">
            <a:avLst/>
          </a:prstGeom>
          <a:noFill/>
        </p:spPr>
        <p:txBody>
          <a:bodyPr wrap="square">
            <a:spAutoFit/>
          </a:bodyPr>
          <a:lstStyle/>
          <a:p>
            <a:pPr algn="l">
              <a:defRPr sz="1800" b="0">
                <a:solidFill>
                  <a:srgbClr val="C0C0C0"/>
                </a:solidFill>
                <a:latin typeface="Segoe UI"/>
              </a:defRPr>
            </a:pPr>
            <a:r>
              <a:t>Gas Metal Arc Welding (GMAW)</a:t>
            </a:r>
          </a:p>
        </p:txBody>
      </p:sp>
      <p:sp>
        <p:nvSpPr>
          <p:cNvPr id="5" name="TextBox 4"/>
          <p:cNvSpPr txBox="1"/>
          <p:nvPr/>
        </p:nvSpPr>
        <p:spPr>
          <a:xfrm>
            <a:off x="548640" y="1371600"/>
            <a:ext cx="6400800" cy="5029200"/>
          </a:xfrm>
          <a:prstGeom prst="rect">
            <a:avLst/>
          </a:prstGeom>
          <a:noFill/>
        </p:spPr>
        <p:txBody>
          <a:bodyPr wrap="square">
            <a:spAutoFit/>
          </a:bodyPr>
          <a:lstStyle/>
          <a:p>
            <a:pPr>
              <a:spcAft>
                <a:spcPts val="800"/>
              </a:spcAft>
            </a:pPr>
            <a:r>
              <a:rPr sz="1600">
                <a:solidFill>
                  <a:srgbClr val="F0F0F0"/>
                </a:solidFill>
                <a:latin typeface="Segoe UI"/>
              </a:rPr>
              <a:t>  How it works: wire-fed electrode melts into the joint</a:t>
            </a:r>
          </a:p>
          <a:p>
            <a:pPr>
              <a:spcAft>
                <a:spcPts val="800"/>
              </a:spcAft>
            </a:pPr>
            <a:r>
              <a:rPr sz="1600">
                <a:solidFill>
                  <a:srgbClr val="F0F0F0"/>
                </a:solidFill>
                <a:latin typeface="Segoe UI"/>
              </a:rPr>
              <a:t>  Shielding gas protects the weld pool from contamination</a:t>
            </a:r>
          </a:p>
          <a:p>
            <a:pPr>
              <a:spcAft>
                <a:spcPts val="800"/>
              </a:spcAft>
            </a:pPr>
            <a:r>
              <a:rPr sz="1600">
                <a:solidFill>
                  <a:srgbClr val="F0F0F0"/>
                </a:solidFill>
                <a:latin typeface="Segoe UI"/>
              </a:rPr>
              <a:t>  Steel setup: ER70S-6 wire + C25 gas (75% Ar / 25% CO2)</a:t>
            </a:r>
          </a:p>
          <a:p>
            <a:pPr>
              <a:spcAft>
                <a:spcPts val="800"/>
              </a:spcAft>
            </a:pPr>
            <a:r>
              <a:rPr sz="1600">
                <a:solidFill>
                  <a:srgbClr val="F0F0F0"/>
                </a:solidFill>
                <a:latin typeface="Segoe UI"/>
              </a:rPr>
              <a:t>  Aluminum setup: ER4043 wire + 100% Argon</a:t>
            </a:r>
          </a:p>
          <a:p>
            <a:pPr>
              <a:spcAft>
                <a:spcPts val="800"/>
              </a:spcAft>
            </a:pPr>
            <a:r>
              <a:rPr sz="1600">
                <a:solidFill>
                  <a:srgbClr val="F0F0F0"/>
                </a:solidFill>
                <a:latin typeface="Segoe UI"/>
              </a:rPr>
              <a:t>  Easiest welding process to learn</a:t>
            </a:r>
          </a:p>
          <a:p>
            <a:pPr>
              <a:spcAft>
                <a:spcPts val="800"/>
              </a:spcAft>
            </a:pPr>
            <a:r>
              <a:rPr sz="1600">
                <a:solidFill>
                  <a:srgbClr val="F0F0F0"/>
                </a:solidFill>
                <a:latin typeface="Segoe UI"/>
              </a:rPr>
              <a:t>  "Point and shoot" — the hot glue gun of welding</a:t>
            </a:r>
          </a:p>
          <a:p>
            <a:pPr>
              <a:spcAft>
                <a:spcPts val="800"/>
              </a:spcAft>
            </a:pPr>
            <a:r>
              <a:rPr sz="1600">
                <a:solidFill>
                  <a:srgbClr val="F0F0F0"/>
                </a:solidFill>
                <a:latin typeface="Segoe UI"/>
              </a:rPr>
              <a:t>  Travel speed matters — too fast = cold weld, too slow = burn-through</a:t>
            </a:r>
          </a:p>
          <a:p>
            <a:pPr>
              <a:spcAft>
                <a:spcPts val="800"/>
              </a:spcAft>
            </a:pPr>
            <a:r>
              <a:rPr sz="1600">
                <a:solidFill>
                  <a:srgbClr val="F0F0F0"/>
                </a:solidFill>
                <a:latin typeface="Segoe UI"/>
              </a:rPr>
              <a:t>  Wire speed + voltage must be balanced</a:t>
            </a:r>
          </a:p>
        </p:txBody>
      </p:sp>
      <p:pic>
        <p:nvPicPr>
          <p:cNvPr id="6" name="Picture 5" descr="mig-welding.jpg"/>
          <p:cNvPicPr>
            <a:picLocks noChangeAspect="1"/>
          </p:cNvPicPr>
          <p:nvPr/>
        </p:nvPicPr>
        <p:blipFill>
          <a:blip r:embed="rId3"/>
          <a:stretch>
            <a:fillRect/>
          </a:stretch>
        </p:blipFill>
        <p:spPr>
          <a:xfrm>
            <a:off x="7315200" y="1371600"/>
            <a:ext cx="4389120" cy="4572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731520"/>
          </a:xfrm>
          <a:prstGeom prst="rect">
            <a:avLst/>
          </a:prstGeom>
          <a:noFill/>
        </p:spPr>
        <p:txBody>
          <a:bodyPr wrap="none">
            <a:spAutoFit/>
          </a:bodyPr>
          <a:lstStyle/>
          <a:p>
            <a:pPr>
              <a:defRPr sz="3600" b="1">
                <a:solidFill>
                  <a:srgbClr val="F0F0F0"/>
                </a:solidFill>
                <a:latin typeface="Segoe UI"/>
              </a:defRPr>
            </a:pPr>
            <a:r>
              <a:t>Lathe Turning</a:t>
            </a:r>
          </a:p>
        </p:txBody>
      </p:sp>
      <p:sp>
        <p:nvSpPr>
          <p:cNvPr id="3" name="Rectangle 2"/>
          <p:cNvSpPr/>
          <p:nvPr/>
        </p:nvSpPr>
        <p:spPr>
          <a:xfrm>
            <a:off x="548640" y="914400"/>
            <a:ext cx="2743200" cy="38100"/>
          </a:xfrm>
          <a:prstGeom prst="rect">
            <a:avLst/>
          </a:prstGeom>
          <a:solidFill>
            <a:srgbClr val="E2B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777240"/>
            <a:ext cx="5486400" cy="365760"/>
          </a:xfrm>
          <a:prstGeom prst="rect">
            <a:avLst/>
          </a:prstGeom>
          <a:noFill/>
        </p:spPr>
        <p:txBody>
          <a:bodyPr wrap="square">
            <a:spAutoFit/>
          </a:bodyPr>
          <a:lstStyle/>
          <a:p>
            <a:pPr algn="l">
              <a:defRPr sz="1800" b="0">
                <a:solidFill>
                  <a:srgbClr val="C0C0C0"/>
                </a:solidFill>
                <a:latin typeface="Segoe UI"/>
              </a:defRPr>
            </a:pPr>
            <a:r>
              <a:t>Cylindrical Machining</a:t>
            </a:r>
          </a:p>
        </p:txBody>
      </p:sp>
      <p:sp>
        <p:nvSpPr>
          <p:cNvPr id="5" name="TextBox 4"/>
          <p:cNvSpPr txBox="1"/>
          <p:nvPr/>
        </p:nvSpPr>
        <p:spPr>
          <a:xfrm>
            <a:off x="548640" y="1371600"/>
            <a:ext cx="6400800" cy="5029200"/>
          </a:xfrm>
          <a:prstGeom prst="rect">
            <a:avLst/>
          </a:prstGeom>
          <a:noFill/>
        </p:spPr>
        <p:txBody>
          <a:bodyPr wrap="square">
            <a:spAutoFit/>
          </a:bodyPr>
          <a:lstStyle/>
          <a:p>
            <a:pPr>
              <a:spcAft>
                <a:spcPts val="800"/>
              </a:spcAft>
            </a:pPr>
            <a:r>
              <a:rPr sz="1600">
                <a:solidFill>
                  <a:srgbClr val="F0F0F0"/>
                </a:solidFill>
                <a:latin typeface="Segoe UI"/>
              </a:rPr>
              <a:t>  How it works: workpiece spins, cutting tool stays still</a:t>
            </a:r>
          </a:p>
          <a:p>
            <a:pPr>
              <a:spcAft>
                <a:spcPts val="800"/>
              </a:spcAft>
            </a:pPr>
            <a:r>
              <a:rPr sz="1600">
                <a:solidFill>
                  <a:srgbClr val="F0F0F0"/>
                </a:solidFill>
                <a:latin typeface="Segoe UI"/>
              </a:rPr>
              <a:t>  Creates round/cylindrical shapes</a:t>
            </a:r>
          </a:p>
          <a:p>
            <a:pPr>
              <a:spcAft>
                <a:spcPts val="800"/>
              </a:spcAft>
            </a:pPr>
            <a:r>
              <a:rPr sz="1600">
                <a:solidFill>
                  <a:srgbClr val="F0F0F0"/>
                </a:solidFill>
                <a:latin typeface="Segoe UI"/>
              </a:rPr>
              <a:t>  Operations: facing, turning, boring, threading, knurling</a:t>
            </a:r>
          </a:p>
          <a:p>
            <a:pPr>
              <a:spcAft>
                <a:spcPts val="800"/>
              </a:spcAft>
            </a:pPr>
            <a:r>
              <a:rPr sz="1600">
                <a:solidFill>
                  <a:srgbClr val="F0F0F0"/>
                </a:solidFill>
                <a:latin typeface="Segoe UI"/>
              </a:rPr>
              <a:t>  RPM changes by material:</a:t>
            </a:r>
          </a:p>
          <a:p>
            <a:pPr>
              <a:spcAft>
                <a:spcPts val="800"/>
              </a:spcAft>
            </a:pPr>
            <a:r>
              <a:rPr sz="1600">
                <a:solidFill>
                  <a:srgbClr val="F0F0F0"/>
                </a:solidFill>
                <a:latin typeface="Segoe UI"/>
              </a:rPr>
              <a:t>      Steel: ~300-600 RPM</a:t>
            </a:r>
          </a:p>
          <a:p>
            <a:pPr>
              <a:spcAft>
                <a:spcPts val="800"/>
              </a:spcAft>
            </a:pPr>
            <a:r>
              <a:rPr sz="1600">
                <a:solidFill>
                  <a:srgbClr val="F0F0F0"/>
                </a:solidFill>
                <a:latin typeface="Segoe UI"/>
              </a:rPr>
              <a:t>      Aluminum: ~800-1500 RPM</a:t>
            </a:r>
          </a:p>
          <a:p>
            <a:pPr>
              <a:spcAft>
                <a:spcPts val="800"/>
              </a:spcAft>
            </a:pPr>
            <a:r>
              <a:rPr sz="1600">
                <a:solidFill>
                  <a:srgbClr val="F0F0F0"/>
                </a:solidFill>
                <a:latin typeface="Segoe UI"/>
              </a:rPr>
              <a:t>      Stainless: ~200-400 RPM (slow!)</a:t>
            </a:r>
          </a:p>
          <a:p>
            <a:pPr>
              <a:spcAft>
                <a:spcPts val="800"/>
              </a:spcAft>
            </a:pPr>
            <a:r>
              <a:rPr sz="1600">
                <a:solidFill>
                  <a:srgbClr val="F0F0F0"/>
                </a:solidFill>
                <a:latin typeface="Segoe UI"/>
              </a:rPr>
              <a:t>  Cutting fluid reduces heat and improves finish</a:t>
            </a:r>
          </a:p>
          <a:p>
            <a:pPr>
              <a:spcAft>
                <a:spcPts val="800"/>
              </a:spcAft>
            </a:pPr>
            <a:r>
              <a:rPr sz="1600">
                <a:solidFill>
                  <a:srgbClr val="F0F0F0"/>
                </a:solidFill>
                <a:latin typeface="Segoe UI"/>
              </a:rPr>
              <a:t>  Never leave the chuck key in the chuck</a:t>
            </a:r>
          </a:p>
        </p:txBody>
      </p:sp>
      <p:pic>
        <p:nvPicPr>
          <p:cNvPr id="6" name="Picture 5" descr="lathe.jpg"/>
          <p:cNvPicPr>
            <a:picLocks noChangeAspect="1"/>
          </p:cNvPicPr>
          <p:nvPr/>
        </p:nvPicPr>
        <p:blipFill>
          <a:blip r:embed="rId3"/>
          <a:stretch>
            <a:fillRect/>
          </a:stretch>
        </p:blipFill>
        <p:spPr>
          <a:xfrm>
            <a:off x="7315200" y="1371600"/>
            <a:ext cx="4389120" cy="4572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731520"/>
          </a:xfrm>
          <a:prstGeom prst="rect">
            <a:avLst/>
          </a:prstGeom>
          <a:noFill/>
        </p:spPr>
        <p:txBody>
          <a:bodyPr wrap="none">
            <a:spAutoFit/>
          </a:bodyPr>
          <a:lstStyle/>
          <a:p>
            <a:pPr>
              <a:defRPr sz="3600" b="1">
                <a:solidFill>
                  <a:srgbClr val="F0F0F0"/>
                </a:solidFill>
                <a:latin typeface="Segoe UI"/>
              </a:defRPr>
            </a:pPr>
            <a:r>
              <a:t>Milling</a:t>
            </a:r>
          </a:p>
        </p:txBody>
      </p:sp>
      <p:sp>
        <p:nvSpPr>
          <p:cNvPr id="3" name="Rectangle 2"/>
          <p:cNvSpPr/>
          <p:nvPr/>
        </p:nvSpPr>
        <p:spPr>
          <a:xfrm>
            <a:off x="548640" y="914400"/>
            <a:ext cx="2743200" cy="38100"/>
          </a:xfrm>
          <a:prstGeom prst="rect">
            <a:avLst/>
          </a:prstGeom>
          <a:solidFill>
            <a:srgbClr val="E2B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777240"/>
            <a:ext cx="5486400" cy="365760"/>
          </a:xfrm>
          <a:prstGeom prst="rect">
            <a:avLst/>
          </a:prstGeom>
          <a:noFill/>
        </p:spPr>
        <p:txBody>
          <a:bodyPr wrap="square">
            <a:spAutoFit/>
          </a:bodyPr>
          <a:lstStyle/>
          <a:p>
            <a:pPr algn="l">
              <a:defRPr sz="1800" b="0">
                <a:solidFill>
                  <a:srgbClr val="C0C0C0"/>
                </a:solidFill>
                <a:latin typeface="Segoe UI"/>
              </a:defRPr>
            </a:pPr>
            <a:r>
              <a:t>Precision Material Removal</a:t>
            </a:r>
          </a:p>
        </p:txBody>
      </p:sp>
      <p:sp>
        <p:nvSpPr>
          <p:cNvPr id="5" name="TextBox 4"/>
          <p:cNvSpPr txBox="1"/>
          <p:nvPr/>
        </p:nvSpPr>
        <p:spPr>
          <a:xfrm>
            <a:off x="548640" y="1371600"/>
            <a:ext cx="6400800" cy="5029200"/>
          </a:xfrm>
          <a:prstGeom prst="rect">
            <a:avLst/>
          </a:prstGeom>
          <a:noFill/>
        </p:spPr>
        <p:txBody>
          <a:bodyPr wrap="square">
            <a:spAutoFit/>
          </a:bodyPr>
          <a:lstStyle/>
          <a:p>
            <a:pPr>
              <a:spcAft>
                <a:spcPts val="800"/>
              </a:spcAft>
            </a:pPr>
            <a:r>
              <a:rPr sz="1600">
                <a:solidFill>
                  <a:srgbClr val="F0F0F0"/>
                </a:solidFill>
                <a:latin typeface="Segoe UI"/>
              </a:rPr>
              <a:t>  How it works: spinning cutter removes material from clamped workpiece</a:t>
            </a:r>
          </a:p>
          <a:p>
            <a:pPr>
              <a:spcAft>
                <a:spcPts val="800"/>
              </a:spcAft>
            </a:pPr>
            <a:r>
              <a:rPr sz="1600">
                <a:solidFill>
                  <a:srgbClr val="F0F0F0"/>
                </a:solidFill>
                <a:latin typeface="Segoe UI"/>
              </a:rPr>
              <a:t>  Creates flat surfaces, slots, pockets, and contours</a:t>
            </a:r>
          </a:p>
          <a:p>
            <a:pPr>
              <a:spcAft>
                <a:spcPts val="800"/>
              </a:spcAft>
            </a:pPr>
            <a:r>
              <a:rPr sz="1600">
                <a:solidFill>
                  <a:srgbClr val="F0F0F0"/>
                </a:solidFill>
                <a:latin typeface="Segoe UI"/>
              </a:rPr>
              <a:t>  Operations: face milling, end milling, slot cutting, drilling</a:t>
            </a:r>
          </a:p>
          <a:p>
            <a:pPr>
              <a:spcAft>
                <a:spcPts val="800"/>
              </a:spcAft>
            </a:pPr>
            <a:r>
              <a:rPr sz="1600">
                <a:solidFill>
                  <a:srgbClr val="F0F0F0"/>
                </a:solidFill>
                <a:latin typeface="Segoe UI"/>
              </a:rPr>
              <a:t>  Feed rate changes by material:</a:t>
            </a:r>
          </a:p>
          <a:p>
            <a:pPr>
              <a:spcAft>
                <a:spcPts val="800"/>
              </a:spcAft>
            </a:pPr>
            <a:r>
              <a:rPr sz="1600">
                <a:solidFill>
                  <a:srgbClr val="F0F0F0"/>
                </a:solidFill>
                <a:latin typeface="Segoe UI"/>
              </a:rPr>
              <a:t>      Steel: moderate feed, lower RPM</a:t>
            </a:r>
          </a:p>
          <a:p>
            <a:pPr>
              <a:spcAft>
                <a:spcPts val="800"/>
              </a:spcAft>
            </a:pPr>
            <a:r>
              <a:rPr sz="1600">
                <a:solidFill>
                  <a:srgbClr val="F0F0F0"/>
                </a:solidFill>
                <a:latin typeface="Segoe UI"/>
              </a:rPr>
              <a:t>      Aluminum: aggressive feed, higher RPM</a:t>
            </a:r>
          </a:p>
          <a:p>
            <a:pPr>
              <a:spcAft>
                <a:spcPts val="800"/>
              </a:spcAft>
            </a:pPr>
            <a:r>
              <a:rPr sz="1600">
                <a:solidFill>
                  <a:srgbClr val="F0F0F0"/>
                </a:solidFill>
                <a:latin typeface="Segoe UI"/>
              </a:rPr>
              <a:t>      Stainless: light feed, low RPM, constant cutting fluid</a:t>
            </a:r>
          </a:p>
          <a:p>
            <a:pPr>
              <a:spcAft>
                <a:spcPts val="800"/>
              </a:spcAft>
            </a:pPr>
            <a:r>
              <a:rPr sz="1600">
                <a:solidFill>
                  <a:srgbClr val="F0F0F0"/>
                </a:solidFill>
                <a:latin typeface="Segoe UI"/>
              </a:rPr>
              <a:t>  Workholding is critical — vise must be tight</a:t>
            </a:r>
          </a:p>
          <a:p>
            <a:pPr>
              <a:spcAft>
                <a:spcPts val="800"/>
              </a:spcAft>
            </a:pPr>
            <a:r>
              <a:rPr sz="1600">
                <a:solidFill>
                  <a:srgbClr val="F0F0F0"/>
                </a:solidFill>
                <a:latin typeface="Segoe UI"/>
              </a:rPr>
              <a:t>  Climb milling vs. conventional — know the difference</a:t>
            </a:r>
          </a:p>
        </p:txBody>
      </p:sp>
      <p:pic>
        <p:nvPicPr>
          <p:cNvPr id="6" name="Picture 5" descr="milling.jpg"/>
          <p:cNvPicPr>
            <a:picLocks noChangeAspect="1"/>
          </p:cNvPicPr>
          <p:nvPr/>
        </p:nvPicPr>
        <p:blipFill>
          <a:blip r:embed="rId3"/>
          <a:stretch>
            <a:fillRect/>
          </a:stretch>
        </p:blipFill>
        <p:spPr>
          <a:xfrm>
            <a:off x="7315200" y="1371600"/>
            <a:ext cx="4389120" cy="4572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731520"/>
          </a:xfrm>
          <a:prstGeom prst="rect">
            <a:avLst/>
          </a:prstGeom>
          <a:noFill/>
        </p:spPr>
        <p:txBody>
          <a:bodyPr wrap="none">
            <a:spAutoFit/>
          </a:bodyPr>
          <a:lstStyle/>
          <a:p>
            <a:pPr>
              <a:defRPr sz="3600" b="1">
                <a:solidFill>
                  <a:srgbClr val="F0F0F0"/>
                </a:solidFill>
                <a:latin typeface="Segoe UI"/>
              </a:defRPr>
            </a:pPr>
            <a:r>
              <a:t>Wood-to-Metal Analogy</a:t>
            </a:r>
          </a:p>
        </p:txBody>
      </p:sp>
      <p:sp>
        <p:nvSpPr>
          <p:cNvPr id="3" name="Rectangle 2"/>
          <p:cNvSpPr/>
          <p:nvPr/>
        </p:nvSpPr>
        <p:spPr>
          <a:xfrm>
            <a:off x="548640" y="914400"/>
            <a:ext cx="2743200" cy="38100"/>
          </a:xfrm>
          <a:prstGeom prst="rect">
            <a:avLst/>
          </a:prstGeom>
          <a:solidFill>
            <a:srgbClr val="E2B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777240"/>
            <a:ext cx="9144000" cy="365760"/>
          </a:xfrm>
          <a:prstGeom prst="rect">
            <a:avLst/>
          </a:prstGeom>
          <a:noFill/>
        </p:spPr>
        <p:txBody>
          <a:bodyPr wrap="square">
            <a:spAutoFit/>
          </a:bodyPr>
          <a:lstStyle/>
          <a:p>
            <a:pPr algn="l">
              <a:defRPr sz="1800" b="0">
                <a:solidFill>
                  <a:srgbClr val="C0C0C0"/>
                </a:solidFill>
                <a:latin typeface="Segoe UI"/>
              </a:defRPr>
            </a:pPr>
            <a:r>
              <a:t>Bridging what you know to what you’re learning</a:t>
            </a:r>
          </a:p>
        </p:txBody>
      </p:sp>
      <p:graphicFrame>
        <p:nvGraphicFramePr>
          <p:cNvPr id="5" name="Table 4"/>
          <p:cNvGraphicFramePr>
            <a:graphicFrameLocks noGrp="1"/>
          </p:cNvGraphicFramePr>
          <p:nvPr/>
        </p:nvGraphicFramePr>
        <p:xfrm>
          <a:off x="731520" y="1280160"/>
          <a:ext cx="10698480" cy="512064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568960">
                <a:tc>
                  <a:txBody>
                    <a:bodyPr/>
                    <a:lstStyle/>
                    <a:p>
                      <a:pPr algn="ctr">
                        <a:defRPr sz="1500" b="1">
                          <a:solidFill>
                            <a:srgbClr val="F0F0F0"/>
                          </a:solidFill>
                          <a:latin typeface="Segoe UI"/>
                        </a:defRPr>
                      </a:pPr>
                      <a:r>
                        <a:t>Wood</a:t>
                      </a:r>
                    </a:p>
                  </a:txBody>
                  <a:tcPr anchor="ctr">
                    <a:solidFill>
                      <a:srgbClr val="3A5A8A"/>
                    </a:solidFill>
                  </a:tcPr>
                </a:tc>
                <a:tc>
                  <a:txBody>
                    <a:bodyPr/>
                    <a:lstStyle/>
                    <a:p>
                      <a:pPr algn="ctr">
                        <a:defRPr sz="1500" b="1">
                          <a:solidFill>
                            <a:srgbClr val="F0F0F0"/>
                          </a:solidFill>
                          <a:latin typeface="Segoe UI"/>
                        </a:defRPr>
                      </a:pPr>
                      <a:r>
                        <a:t>Metal Equivalent</a:t>
                      </a:r>
                    </a:p>
                  </a:txBody>
                  <a:tcPr anchor="ctr">
                    <a:solidFill>
                      <a:srgbClr val="3A5A8A"/>
                    </a:solidFill>
                  </a:tcPr>
                </a:tc>
                <a:tc>
                  <a:txBody>
                    <a:bodyPr/>
                    <a:lstStyle/>
                    <a:p>
                      <a:pPr algn="ctr">
                        <a:defRPr sz="1500" b="1">
                          <a:solidFill>
                            <a:srgbClr val="F0F0F0"/>
                          </a:solidFill>
                          <a:latin typeface="Segoe UI"/>
                        </a:defRPr>
                      </a:pPr>
                      <a:r>
                        <a:t>Why the Match</a:t>
                      </a:r>
                    </a:p>
                  </a:txBody>
                  <a:tcPr anchor="ctr">
                    <a:solidFill>
                      <a:srgbClr val="3A5A8A"/>
                    </a:solidFill>
                  </a:tcPr>
                </a:tc>
                <a:tc>
                  <a:txBody>
                    <a:bodyPr/>
                    <a:lstStyle/>
                    <a:p>
                      <a:pPr algn="ctr">
                        <a:defRPr sz="1500" b="1">
                          <a:solidFill>
                            <a:srgbClr val="F0F0F0"/>
                          </a:solidFill>
                          <a:latin typeface="Segoe UI"/>
                        </a:defRPr>
                      </a:pPr>
                      <a:r>
                        <a:t>Difficulty</a:t>
                      </a:r>
                    </a:p>
                  </a:txBody>
                  <a:tcPr anchor="ctr">
                    <a:solidFill>
                      <a:srgbClr val="3A5A8A"/>
                    </a:solidFill>
                  </a:tcPr>
                </a:tc>
                <a:extLst>
                  <a:ext uri="{0D108BD9-81ED-4DB2-BD59-A6C34878D82A}">
                    <a16:rowId xmlns:a16="http://schemas.microsoft.com/office/drawing/2014/main" val="10000"/>
                  </a:ext>
                </a:extLst>
              </a:tr>
              <a:tr h="568960">
                <a:tc>
                  <a:txBody>
                    <a:bodyPr/>
                    <a:lstStyle/>
                    <a:p>
                      <a:pPr algn="ctr">
                        <a:defRPr sz="1400" b="0">
                          <a:solidFill>
                            <a:srgbClr val="F0F0F0"/>
                          </a:solidFill>
                          <a:latin typeface="Segoe UI"/>
                        </a:defRPr>
                      </a:pPr>
                      <a:r>
                        <a:t>Pine</a:t>
                      </a:r>
                    </a:p>
                  </a:txBody>
                  <a:tcPr anchor="ctr">
                    <a:solidFill>
                      <a:srgbClr val="1A1A2E"/>
                    </a:solidFill>
                  </a:tcPr>
                </a:tc>
                <a:tc>
                  <a:txBody>
                    <a:bodyPr/>
                    <a:lstStyle/>
                    <a:p>
                      <a:pPr algn="ctr">
                        <a:defRPr sz="1400" b="1">
                          <a:solidFill>
                            <a:srgbClr val="E2B714"/>
                          </a:solidFill>
                          <a:latin typeface="Segoe UI"/>
                        </a:defRPr>
                      </a:pPr>
                      <a:r>
                        <a:t>Mild Steel</a:t>
                      </a:r>
                    </a:p>
                  </a:txBody>
                  <a:tcPr anchor="ctr">
                    <a:solidFill>
                      <a:srgbClr val="1A1A2E"/>
                    </a:solidFill>
                  </a:tcPr>
                </a:tc>
                <a:tc>
                  <a:txBody>
                    <a:bodyPr/>
                    <a:lstStyle/>
                    <a:p>
                      <a:pPr algn="ctr">
                        <a:defRPr sz="1400" b="0">
                          <a:solidFill>
                            <a:srgbClr val="F0F0F0"/>
                          </a:solidFill>
                          <a:latin typeface="Segoe UI"/>
                        </a:defRPr>
                      </a:pPr>
                      <a:r>
                        <a:t>Cheap, common, easy to work, learn on this</a:t>
                      </a:r>
                    </a:p>
                  </a:txBody>
                  <a:tcPr anchor="ctr">
                    <a:solidFill>
                      <a:srgbClr val="1A1A2E"/>
                    </a:solidFill>
                  </a:tcPr>
                </a:tc>
                <a:tc>
                  <a:txBody>
                    <a:bodyPr/>
                    <a:lstStyle/>
                    <a:p>
                      <a:pPr algn="ctr">
                        <a:defRPr sz="1400" b="0">
                          <a:solidFill>
                            <a:srgbClr val="F0F0F0"/>
                          </a:solidFill>
                          <a:latin typeface="Segoe UI"/>
                        </a:defRPr>
                      </a:pPr>
                      <a:r>
                        <a:t>Beginner</a:t>
                      </a:r>
                    </a:p>
                  </a:txBody>
                  <a:tcPr anchor="ctr">
                    <a:solidFill>
                      <a:srgbClr val="1A1A2E"/>
                    </a:solidFill>
                  </a:tcPr>
                </a:tc>
                <a:extLst>
                  <a:ext uri="{0D108BD9-81ED-4DB2-BD59-A6C34878D82A}">
                    <a16:rowId xmlns:a16="http://schemas.microsoft.com/office/drawing/2014/main" val="10001"/>
                  </a:ext>
                </a:extLst>
              </a:tr>
              <a:tr h="568960">
                <a:tc>
                  <a:txBody>
                    <a:bodyPr/>
                    <a:lstStyle/>
                    <a:p>
                      <a:pPr algn="ctr">
                        <a:defRPr sz="1400" b="0">
                          <a:solidFill>
                            <a:srgbClr val="F0F0F0"/>
                          </a:solidFill>
                          <a:latin typeface="Segoe UI"/>
                        </a:defRPr>
                      </a:pPr>
                      <a:r>
                        <a:t>Poplar</a:t>
                      </a:r>
                    </a:p>
                  </a:txBody>
                  <a:tcPr anchor="ctr">
                    <a:solidFill>
                      <a:srgbClr val="222238"/>
                    </a:solidFill>
                  </a:tcPr>
                </a:tc>
                <a:tc>
                  <a:txBody>
                    <a:bodyPr/>
                    <a:lstStyle/>
                    <a:p>
                      <a:pPr algn="ctr">
                        <a:defRPr sz="1400" b="1">
                          <a:solidFill>
                            <a:srgbClr val="E2B714"/>
                          </a:solidFill>
                          <a:latin typeface="Segoe UI"/>
                        </a:defRPr>
                      </a:pPr>
                      <a:r>
                        <a:t>6061 Aluminum</a:t>
                      </a:r>
                    </a:p>
                  </a:txBody>
                  <a:tcPr anchor="ctr">
                    <a:solidFill>
                      <a:srgbClr val="222238"/>
                    </a:solidFill>
                  </a:tcPr>
                </a:tc>
                <a:tc>
                  <a:txBody>
                    <a:bodyPr/>
                    <a:lstStyle/>
                    <a:p>
                      <a:pPr algn="ctr">
                        <a:defRPr sz="1400" b="0">
                          <a:solidFill>
                            <a:srgbClr val="F0F0F0"/>
                          </a:solidFill>
                          <a:latin typeface="Segoe UI"/>
                        </a:defRPr>
                      </a:pPr>
                      <a:r>
                        <a:t>Light, versatile, softer, everywhere</a:t>
                      </a:r>
                    </a:p>
                  </a:txBody>
                  <a:tcPr anchor="ctr">
                    <a:solidFill>
                      <a:srgbClr val="222238"/>
                    </a:solidFill>
                  </a:tcPr>
                </a:tc>
                <a:tc>
                  <a:txBody>
                    <a:bodyPr/>
                    <a:lstStyle/>
                    <a:p>
                      <a:pPr algn="ctr">
                        <a:defRPr sz="1400" b="0">
                          <a:solidFill>
                            <a:srgbClr val="F0F0F0"/>
                          </a:solidFill>
                          <a:latin typeface="Segoe UI"/>
                        </a:defRPr>
                      </a:pPr>
                      <a:r>
                        <a:t>Beginner</a:t>
                      </a:r>
                    </a:p>
                  </a:txBody>
                  <a:tcPr anchor="ctr">
                    <a:solidFill>
                      <a:srgbClr val="222238"/>
                    </a:solidFill>
                  </a:tcPr>
                </a:tc>
                <a:extLst>
                  <a:ext uri="{0D108BD9-81ED-4DB2-BD59-A6C34878D82A}">
                    <a16:rowId xmlns:a16="http://schemas.microsoft.com/office/drawing/2014/main" val="10002"/>
                  </a:ext>
                </a:extLst>
              </a:tr>
              <a:tr h="568960">
                <a:tc>
                  <a:txBody>
                    <a:bodyPr/>
                    <a:lstStyle/>
                    <a:p>
                      <a:pPr algn="ctr">
                        <a:defRPr sz="1400" b="0">
                          <a:solidFill>
                            <a:srgbClr val="F0F0F0"/>
                          </a:solidFill>
                          <a:latin typeface="Segoe UI"/>
                        </a:defRPr>
                      </a:pPr>
                      <a:r>
                        <a:t>Red Oak</a:t>
                      </a:r>
                    </a:p>
                  </a:txBody>
                  <a:tcPr anchor="ctr">
                    <a:solidFill>
                      <a:srgbClr val="1A1A2E"/>
                    </a:solidFill>
                  </a:tcPr>
                </a:tc>
                <a:tc>
                  <a:txBody>
                    <a:bodyPr/>
                    <a:lstStyle/>
                    <a:p>
                      <a:pPr algn="ctr">
                        <a:defRPr sz="1400" b="1">
                          <a:solidFill>
                            <a:srgbClr val="E2B714"/>
                          </a:solidFill>
                          <a:latin typeface="Segoe UI"/>
                        </a:defRPr>
                      </a:pPr>
                      <a:r>
                        <a:t>4140 Cr-Mo Steel</a:t>
                      </a:r>
                    </a:p>
                  </a:txBody>
                  <a:tcPr anchor="ctr">
                    <a:solidFill>
                      <a:srgbClr val="1A1A2E"/>
                    </a:solidFill>
                  </a:tcPr>
                </a:tc>
                <a:tc>
                  <a:txBody>
                    <a:bodyPr/>
                    <a:lstStyle/>
                    <a:p>
                      <a:pPr algn="ctr">
                        <a:defRPr sz="1400" b="0">
                          <a:solidFill>
                            <a:srgbClr val="F0F0F0"/>
                          </a:solidFill>
                          <a:latin typeface="Segoe UI"/>
                        </a:defRPr>
                      </a:pPr>
                      <a:r>
                        <a:t>Harder, more demanding, premium result</a:t>
                      </a:r>
                    </a:p>
                  </a:txBody>
                  <a:tcPr anchor="ctr">
                    <a:solidFill>
                      <a:srgbClr val="1A1A2E"/>
                    </a:solidFill>
                  </a:tcPr>
                </a:tc>
                <a:tc>
                  <a:txBody>
                    <a:bodyPr/>
                    <a:lstStyle/>
                    <a:p>
                      <a:pPr algn="ctr">
                        <a:defRPr sz="1400" b="0">
                          <a:solidFill>
                            <a:srgbClr val="F0F0F0"/>
                          </a:solidFill>
                          <a:latin typeface="Segoe UI"/>
                        </a:defRPr>
                      </a:pPr>
                      <a:r>
                        <a:t>Intermediate</a:t>
                      </a:r>
                    </a:p>
                  </a:txBody>
                  <a:tcPr anchor="ctr">
                    <a:solidFill>
                      <a:srgbClr val="1A1A2E"/>
                    </a:solidFill>
                  </a:tcPr>
                </a:tc>
                <a:extLst>
                  <a:ext uri="{0D108BD9-81ED-4DB2-BD59-A6C34878D82A}">
                    <a16:rowId xmlns:a16="http://schemas.microsoft.com/office/drawing/2014/main" val="10003"/>
                  </a:ext>
                </a:extLst>
              </a:tr>
              <a:tr h="568960">
                <a:tc>
                  <a:txBody>
                    <a:bodyPr/>
                    <a:lstStyle/>
                    <a:p>
                      <a:pPr algn="ctr">
                        <a:defRPr sz="1400" b="0">
                          <a:solidFill>
                            <a:srgbClr val="F0F0F0"/>
                          </a:solidFill>
                          <a:latin typeface="Segoe UI"/>
                        </a:defRPr>
                      </a:pPr>
                      <a:r>
                        <a:t>Maple</a:t>
                      </a:r>
                    </a:p>
                  </a:txBody>
                  <a:tcPr anchor="ctr">
                    <a:solidFill>
                      <a:srgbClr val="222238"/>
                    </a:solidFill>
                  </a:tcPr>
                </a:tc>
                <a:tc>
                  <a:txBody>
                    <a:bodyPr/>
                    <a:lstStyle/>
                    <a:p>
                      <a:pPr algn="ctr">
                        <a:defRPr sz="1400" b="1">
                          <a:solidFill>
                            <a:srgbClr val="E2B714"/>
                          </a:solidFill>
                          <a:latin typeface="Segoe UI"/>
                        </a:defRPr>
                      </a:pPr>
                      <a:r>
                        <a:t>Brass</a:t>
                      </a:r>
                    </a:p>
                  </a:txBody>
                  <a:tcPr anchor="ctr">
                    <a:solidFill>
                      <a:srgbClr val="222238"/>
                    </a:solidFill>
                  </a:tcPr>
                </a:tc>
                <a:tc>
                  <a:txBody>
                    <a:bodyPr/>
                    <a:lstStyle/>
                    <a:p>
                      <a:pPr algn="ctr">
                        <a:defRPr sz="1400" b="0">
                          <a:solidFill>
                            <a:srgbClr val="F0F0F0"/>
                          </a:solidFill>
                          <a:latin typeface="Segoe UI"/>
                        </a:defRPr>
                      </a:pPr>
                      <a:r>
                        <a:t>Machines beautifully, polishes to a premium look</a:t>
                      </a:r>
                    </a:p>
                  </a:txBody>
                  <a:tcPr anchor="ctr">
                    <a:solidFill>
                      <a:srgbClr val="222238"/>
                    </a:solidFill>
                  </a:tcPr>
                </a:tc>
                <a:tc>
                  <a:txBody>
                    <a:bodyPr/>
                    <a:lstStyle/>
                    <a:p>
                      <a:pPr algn="ctr">
                        <a:defRPr sz="1400" b="0">
                          <a:solidFill>
                            <a:srgbClr val="F0F0F0"/>
                          </a:solidFill>
                          <a:latin typeface="Segoe UI"/>
                        </a:defRPr>
                      </a:pPr>
                      <a:r>
                        <a:t>Intermediate</a:t>
                      </a:r>
                    </a:p>
                  </a:txBody>
                  <a:tcPr anchor="ctr">
                    <a:solidFill>
                      <a:srgbClr val="222238"/>
                    </a:solidFill>
                  </a:tcPr>
                </a:tc>
                <a:extLst>
                  <a:ext uri="{0D108BD9-81ED-4DB2-BD59-A6C34878D82A}">
                    <a16:rowId xmlns:a16="http://schemas.microsoft.com/office/drawing/2014/main" val="10004"/>
                  </a:ext>
                </a:extLst>
              </a:tr>
              <a:tr h="568960">
                <a:tc>
                  <a:txBody>
                    <a:bodyPr/>
                    <a:lstStyle/>
                    <a:p>
                      <a:pPr algn="ctr">
                        <a:defRPr sz="1400" b="0">
                          <a:solidFill>
                            <a:srgbClr val="F0F0F0"/>
                          </a:solidFill>
                          <a:latin typeface="Segoe UI"/>
                        </a:defRPr>
                      </a:pPr>
                      <a:r>
                        <a:t>Cherry</a:t>
                      </a:r>
                    </a:p>
                  </a:txBody>
                  <a:tcPr anchor="ctr">
                    <a:solidFill>
                      <a:srgbClr val="1A1A2E"/>
                    </a:solidFill>
                  </a:tcPr>
                </a:tc>
                <a:tc>
                  <a:txBody>
                    <a:bodyPr/>
                    <a:lstStyle/>
                    <a:p>
                      <a:pPr algn="ctr">
                        <a:defRPr sz="1400" b="1">
                          <a:solidFill>
                            <a:srgbClr val="E2B714"/>
                          </a:solidFill>
                          <a:latin typeface="Segoe UI"/>
                        </a:defRPr>
                      </a:pPr>
                      <a:r>
                        <a:t>Copper</a:t>
                      </a:r>
                    </a:p>
                  </a:txBody>
                  <a:tcPr anchor="ctr">
                    <a:solidFill>
                      <a:srgbClr val="1A1A2E"/>
                    </a:solidFill>
                  </a:tcPr>
                </a:tc>
                <a:tc>
                  <a:txBody>
                    <a:bodyPr/>
                    <a:lstStyle/>
                    <a:p>
                      <a:pPr algn="ctr">
                        <a:defRPr sz="1400" b="0">
                          <a:solidFill>
                            <a:srgbClr val="F0F0F0"/>
                          </a:solidFill>
                          <a:latin typeface="Segoe UI"/>
                        </a:defRPr>
                      </a:pPr>
                      <a:r>
                        <a:t>Beautiful finish, mid-range difficulty, ages well</a:t>
                      </a:r>
                    </a:p>
                  </a:txBody>
                  <a:tcPr anchor="ctr">
                    <a:solidFill>
                      <a:srgbClr val="1A1A2E"/>
                    </a:solidFill>
                  </a:tcPr>
                </a:tc>
                <a:tc>
                  <a:txBody>
                    <a:bodyPr/>
                    <a:lstStyle/>
                    <a:p>
                      <a:pPr algn="ctr">
                        <a:defRPr sz="1400" b="0">
                          <a:solidFill>
                            <a:srgbClr val="F0F0F0"/>
                          </a:solidFill>
                          <a:latin typeface="Segoe UI"/>
                        </a:defRPr>
                      </a:pPr>
                      <a:r>
                        <a:t>Intermediate</a:t>
                      </a:r>
                    </a:p>
                  </a:txBody>
                  <a:tcPr anchor="ctr">
                    <a:solidFill>
                      <a:srgbClr val="1A1A2E"/>
                    </a:solidFill>
                  </a:tcPr>
                </a:tc>
                <a:extLst>
                  <a:ext uri="{0D108BD9-81ED-4DB2-BD59-A6C34878D82A}">
                    <a16:rowId xmlns:a16="http://schemas.microsoft.com/office/drawing/2014/main" val="10005"/>
                  </a:ext>
                </a:extLst>
              </a:tr>
              <a:tr h="568960">
                <a:tc>
                  <a:txBody>
                    <a:bodyPr/>
                    <a:lstStyle/>
                    <a:p>
                      <a:pPr algn="ctr">
                        <a:defRPr sz="1400" b="0">
                          <a:solidFill>
                            <a:srgbClr val="F0F0F0"/>
                          </a:solidFill>
                          <a:latin typeface="Segoe UI"/>
                        </a:defRPr>
                      </a:pPr>
                      <a:r>
                        <a:t>Walnut</a:t>
                      </a:r>
                    </a:p>
                  </a:txBody>
                  <a:tcPr anchor="ctr">
                    <a:solidFill>
                      <a:srgbClr val="222238"/>
                    </a:solidFill>
                  </a:tcPr>
                </a:tc>
                <a:tc>
                  <a:txBody>
                    <a:bodyPr/>
                    <a:lstStyle/>
                    <a:p>
                      <a:pPr algn="ctr">
                        <a:defRPr sz="1400" b="1">
                          <a:solidFill>
                            <a:srgbClr val="E2B714"/>
                          </a:solidFill>
                          <a:latin typeface="Segoe UI"/>
                        </a:defRPr>
                      </a:pPr>
                      <a:r>
                        <a:t>Stainless Steel</a:t>
                      </a:r>
                    </a:p>
                  </a:txBody>
                  <a:tcPr anchor="ctr">
                    <a:solidFill>
                      <a:srgbClr val="222238"/>
                    </a:solidFill>
                  </a:tcPr>
                </a:tc>
                <a:tc>
                  <a:txBody>
                    <a:bodyPr/>
                    <a:lstStyle/>
                    <a:p>
                      <a:pPr algn="ctr">
                        <a:defRPr sz="1400" b="0">
                          <a:solidFill>
                            <a:srgbClr val="F0F0F0"/>
                          </a:solidFill>
                          <a:latin typeface="Segoe UI"/>
                        </a:defRPr>
                      </a:pPr>
                      <a:r>
                        <a:t>Premium, harder to work, worth the effort</a:t>
                      </a:r>
                    </a:p>
                  </a:txBody>
                  <a:tcPr anchor="ctr">
                    <a:solidFill>
                      <a:srgbClr val="222238"/>
                    </a:solidFill>
                  </a:tcPr>
                </a:tc>
                <a:tc>
                  <a:txBody>
                    <a:bodyPr/>
                    <a:lstStyle/>
                    <a:p>
                      <a:pPr algn="ctr">
                        <a:defRPr sz="1400" b="0">
                          <a:solidFill>
                            <a:srgbClr val="F0F0F0"/>
                          </a:solidFill>
                          <a:latin typeface="Segoe UI"/>
                        </a:defRPr>
                      </a:pPr>
                      <a:r>
                        <a:t>Advanced</a:t>
                      </a:r>
                    </a:p>
                  </a:txBody>
                  <a:tcPr anchor="ctr">
                    <a:solidFill>
                      <a:srgbClr val="222238"/>
                    </a:solidFill>
                  </a:tcPr>
                </a:tc>
                <a:extLst>
                  <a:ext uri="{0D108BD9-81ED-4DB2-BD59-A6C34878D82A}">
                    <a16:rowId xmlns:a16="http://schemas.microsoft.com/office/drawing/2014/main" val="10006"/>
                  </a:ext>
                </a:extLst>
              </a:tr>
              <a:tr h="568960">
                <a:tc>
                  <a:txBody>
                    <a:bodyPr/>
                    <a:lstStyle/>
                    <a:p>
                      <a:pPr algn="ctr">
                        <a:defRPr sz="1400" b="0">
                          <a:solidFill>
                            <a:srgbClr val="F0F0F0"/>
                          </a:solidFill>
                          <a:latin typeface="Segoe UI"/>
                        </a:defRPr>
                      </a:pPr>
                      <a:r>
                        <a:t>Purple Heart</a:t>
                      </a:r>
                    </a:p>
                  </a:txBody>
                  <a:tcPr anchor="ctr">
                    <a:solidFill>
                      <a:srgbClr val="1A1A2E"/>
                    </a:solidFill>
                  </a:tcPr>
                </a:tc>
                <a:tc>
                  <a:txBody>
                    <a:bodyPr/>
                    <a:lstStyle/>
                    <a:p>
                      <a:pPr algn="ctr">
                        <a:defRPr sz="1400" b="1">
                          <a:solidFill>
                            <a:srgbClr val="E2B714"/>
                          </a:solidFill>
                          <a:latin typeface="Segoe UI"/>
                        </a:defRPr>
                      </a:pPr>
                      <a:r>
                        <a:t>Titanium</a:t>
                      </a:r>
                    </a:p>
                  </a:txBody>
                  <a:tcPr anchor="ctr">
                    <a:solidFill>
                      <a:srgbClr val="1A1A2E"/>
                    </a:solidFill>
                  </a:tcPr>
                </a:tc>
                <a:tc>
                  <a:txBody>
                    <a:bodyPr/>
                    <a:lstStyle/>
                    <a:p>
                      <a:pPr algn="ctr">
                        <a:defRPr sz="1400" b="0">
                          <a:solidFill>
                            <a:srgbClr val="F0F0F0"/>
                          </a:solidFill>
                          <a:latin typeface="Segoe UI"/>
                        </a:defRPr>
                      </a:pPr>
                      <a:r>
                        <a:t>Exotic, expensive, hard, impressive result</a:t>
                      </a:r>
                    </a:p>
                  </a:txBody>
                  <a:tcPr anchor="ctr">
                    <a:solidFill>
                      <a:srgbClr val="1A1A2E"/>
                    </a:solidFill>
                  </a:tcPr>
                </a:tc>
                <a:tc>
                  <a:txBody>
                    <a:bodyPr/>
                    <a:lstStyle/>
                    <a:p>
                      <a:pPr algn="ctr">
                        <a:defRPr sz="1400" b="0">
                          <a:solidFill>
                            <a:srgbClr val="F0F0F0"/>
                          </a:solidFill>
                          <a:latin typeface="Segoe UI"/>
                        </a:defRPr>
                      </a:pPr>
                      <a:r>
                        <a:t>Expert</a:t>
                      </a:r>
                    </a:p>
                  </a:txBody>
                  <a:tcPr anchor="ctr">
                    <a:solidFill>
                      <a:srgbClr val="1A1A2E"/>
                    </a:solidFill>
                  </a:tcPr>
                </a:tc>
                <a:extLst>
                  <a:ext uri="{0D108BD9-81ED-4DB2-BD59-A6C34878D82A}">
                    <a16:rowId xmlns:a16="http://schemas.microsoft.com/office/drawing/2014/main" val="10007"/>
                  </a:ext>
                </a:extLst>
              </a:tr>
              <a:tr h="568960">
                <a:tc>
                  <a:txBody>
                    <a:bodyPr/>
                    <a:lstStyle/>
                    <a:p>
                      <a:pPr algn="ctr">
                        <a:defRPr sz="1400" b="0">
                          <a:solidFill>
                            <a:srgbClr val="F0F0F0"/>
                          </a:solidFill>
                          <a:latin typeface="Segoe UI"/>
                        </a:defRPr>
                      </a:pPr>
                      <a:r>
                        <a:t>White Oak</a:t>
                      </a:r>
                    </a:p>
                  </a:txBody>
                  <a:tcPr anchor="ctr">
                    <a:solidFill>
                      <a:srgbClr val="222238"/>
                    </a:solidFill>
                  </a:tcPr>
                </a:tc>
                <a:tc>
                  <a:txBody>
                    <a:bodyPr/>
                    <a:lstStyle/>
                    <a:p>
                      <a:pPr algn="ctr">
                        <a:defRPr sz="1400" b="1">
                          <a:solidFill>
                            <a:srgbClr val="E2B714"/>
                          </a:solidFill>
                          <a:latin typeface="Segoe UI"/>
                        </a:defRPr>
                      </a:pPr>
                      <a:r>
                        <a:t>Cast Iron</a:t>
                      </a:r>
                    </a:p>
                  </a:txBody>
                  <a:tcPr anchor="ctr">
                    <a:solidFill>
                      <a:srgbClr val="222238"/>
                    </a:solidFill>
                  </a:tcPr>
                </a:tc>
                <a:tc>
                  <a:txBody>
                    <a:bodyPr/>
                    <a:lstStyle/>
                    <a:p>
                      <a:pPr algn="ctr">
                        <a:defRPr sz="1400" b="0">
                          <a:solidFill>
                            <a:srgbClr val="F0F0F0"/>
                          </a:solidFill>
                          <a:latin typeface="Segoe UI"/>
                        </a:defRPr>
                      </a:pPr>
                      <a:r>
                        <a:t>Heavy, durable, structural, been used for centuries</a:t>
                      </a:r>
                    </a:p>
                  </a:txBody>
                  <a:tcPr anchor="ctr">
                    <a:solidFill>
                      <a:srgbClr val="222238"/>
                    </a:solidFill>
                  </a:tcPr>
                </a:tc>
                <a:tc>
                  <a:txBody>
                    <a:bodyPr/>
                    <a:lstStyle/>
                    <a:p>
                      <a:pPr algn="ctr">
                        <a:defRPr sz="1400" b="0">
                          <a:solidFill>
                            <a:srgbClr val="F0F0F0"/>
                          </a:solidFill>
                          <a:latin typeface="Segoe UI"/>
                        </a:defRPr>
                      </a:pPr>
                      <a:r>
                        <a:t>Specialized</a:t>
                      </a:r>
                    </a:p>
                  </a:txBody>
                  <a:tcPr anchor="ctr">
                    <a:solidFill>
                      <a:srgbClr val="222238"/>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731520"/>
          </a:xfrm>
          <a:prstGeom prst="rect">
            <a:avLst/>
          </a:prstGeom>
          <a:noFill/>
        </p:spPr>
        <p:txBody>
          <a:bodyPr wrap="none">
            <a:spAutoFit/>
          </a:bodyPr>
          <a:lstStyle/>
          <a:p>
            <a:r>
              <a:rPr sz="3600" b="1">
                <a:solidFill>
                  <a:srgbClr val="F0F0F0"/>
                </a:solidFill>
                <a:latin typeface="Segoe UI"/>
              </a:rPr>
              <a:t>Quick Reference </a:t>
            </a:r>
            <a:r>
              <a:rPr sz="2400">
                <a:solidFill>
                  <a:srgbClr val="C0C0C0"/>
                </a:solidFill>
                <a:latin typeface="Segoe UI"/>
              </a:rPr>
              <a:t>Ferrous Metals</a:t>
            </a:r>
          </a:p>
        </p:txBody>
      </p:sp>
      <p:sp>
        <p:nvSpPr>
          <p:cNvPr id="3" name="Rectangle 2"/>
          <p:cNvSpPr/>
          <p:nvPr/>
        </p:nvSpPr>
        <p:spPr>
          <a:xfrm>
            <a:off x="548640" y="914400"/>
            <a:ext cx="2743200" cy="38100"/>
          </a:xfrm>
          <a:prstGeom prst="rect">
            <a:avLst/>
          </a:prstGeom>
          <a:solidFill>
            <a:srgbClr val="E2B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365760" y="1280160"/>
          <a:ext cx="11430000" cy="50292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gridCol w="2011680">
                  <a:extLst>
                    <a:ext uri="{9D8B030D-6E8A-4147-A177-3AD203B41FA5}">
                      <a16:colId xmlns:a16="http://schemas.microsoft.com/office/drawing/2014/main" val="20005"/>
                    </a:ext>
                  </a:extLst>
                </a:gridCol>
              </a:tblGrid>
              <a:tr h="628650">
                <a:tc>
                  <a:txBody>
                    <a:bodyPr/>
                    <a:lstStyle/>
                    <a:p>
                      <a:pPr algn="ctr">
                        <a:defRPr sz="1500" b="1">
                          <a:solidFill>
                            <a:srgbClr val="F0F0F0"/>
                          </a:solidFill>
                          <a:latin typeface="Segoe UI"/>
                        </a:defRPr>
                      </a:pPr>
                      <a:r>
                        <a:t>Property</a:t>
                      </a:r>
                    </a:p>
                  </a:txBody>
                  <a:tcPr anchor="ctr">
                    <a:solidFill>
                      <a:srgbClr val="3A5A8A"/>
                    </a:solidFill>
                  </a:tcPr>
                </a:tc>
                <a:tc>
                  <a:txBody>
                    <a:bodyPr/>
                    <a:lstStyle/>
                    <a:p>
                      <a:pPr algn="ctr">
                        <a:defRPr sz="1500" b="1">
                          <a:solidFill>
                            <a:srgbClr val="F0F0F0"/>
                          </a:solidFill>
                          <a:latin typeface="Segoe UI"/>
                        </a:defRPr>
                      </a:pPr>
                      <a:r>
                        <a:t>Mild Steel</a:t>
                      </a:r>
                    </a:p>
                  </a:txBody>
                  <a:tcPr anchor="ctr">
                    <a:solidFill>
                      <a:srgbClr val="3A5A8A"/>
                    </a:solidFill>
                  </a:tcPr>
                </a:tc>
                <a:tc>
                  <a:txBody>
                    <a:bodyPr/>
                    <a:lstStyle/>
                    <a:p>
                      <a:pPr algn="ctr">
                        <a:defRPr sz="1500" b="1">
                          <a:solidFill>
                            <a:srgbClr val="F0F0F0"/>
                          </a:solidFill>
                          <a:latin typeface="Segoe UI"/>
                        </a:defRPr>
                      </a:pPr>
                      <a:r>
                        <a:t>4140 Cr-Mo</a:t>
                      </a:r>
                    </a:p>
                  </a:txBody>
                  <a:tcPr anchor="ctr">
                    <a:solidFill>
                      <a:srgbClr val="3A5A8A"/>
                    </a:solidFill>
                  </a:tcPr>
                </a:tc>
                <a:tc>
                  <a:txBody>
                    <a:bodyPr/>
                    <a:lstStyle/>
                    <a:p>
                      <a:pPr algn="ctr">
                        <a:defRPr sz="1500" b="1">
                          <a:solidFill>
                            <a:srgbClr val="F0F0F0"/>
                          </a:solidFill>
                          <a:latin typeface="Segoe UI"/>
                        </a:defRPr>
                      </a:pPr>
                      <a:r>
                        <a:t>Tool Steel</a:t>
                      </a:r>
                    </a:p>
                  </a:txBody>
                  <a:tcPr anchor="ctr">
                    <a:solidFill>
                      <a:srgbClr val="3A5A8A"/>
                    </a:solidFill>
                  </a:tcPr>
                </a:tc>
                <a:tc>
                  <a:txBody>
                    <a:bodyPr/>
                    <a:lstStyle/>
                    <a:p>
                      <a:pPr algn="ctr">
                        <a:defRPr sz="1500" b="1">
                          <a:solidFill>
                            <a:srgbClr val="F0F0F0"/>
                          </a:solidFill>
                          <a:latin typeface="Segoe UI"/>
                        </a:defRPr>
                      </a:pPr>
                      <a:r>
                        <a:t>Cast Iron</a:t>
                      </a:r>
                    </a:p>
                  </a:txBody>
                  <a:tcPr anchor="ctr">
                    <a:solidFill>
                      <a:srgbClr val="3A5A8A"/>
                    </a:solidFill>
                  </a:tcPr>
                </a:tc>
                <a:tc>
                  <a:txBody>
                    <a:bodyPr/>
                    <a:lstStyle/>
                    <a:p>
                      <a:pPr algn="ctr">
                        <a:defRPr sz="1500" b="1">
                          <a:solidFill>
                            <a:srgbClr val="F0F0F0"/>
                          </a:solidFill>
                          <a:latin typeface="Segoe UI"/>
                        </a:defRPr>
                      </a:pPr>
                      <a:r>
                        <a:t>Stainless</a:t>
                      </a:r>
                    </a:p>
                  </a:txBody>
                  <a:tcPr anchor="ctr">
                    <a:solidFill>
                      <a:srgbClr val="3A5A8A"/>
                    </a:solidFill>
                  </a:tcPr>
                </a:tc>
                <a:extLst>
                  <a:ext uri="{0D108BD9-81ED-4DB2-BD59-A6C34878D82A}">
                    <a16:rowId xmlns:a16="http://schemas.microsoft.com/office/drawing/2014/main" val="10000"/>
                  </a:ext>
                </a:extLst>
              </a:tr>
              <a:tr h="628650">
                <a:tc>
                  <a:txBody>
                    <a:bodyPr/>
                    <a:lstStyle/>
                    <a:p>
                      <a:pPr algn="ctr">
                        <a:defRPr sz="1400" b="0">
                          <a:solidFill>
                            <a:srgbClr val="F0F0F0"/>
                          </a:solidFill>
                          <a:latin typeface="Segoe UI"/>
                        </a:defRPr>
                      </a:pPr>
                      <a:r>
                        <a:t>Hardness</a:t>
                      </a:r>
                    </a:p>
                  </a:txBody>
                  <a:tcPr anchor="ctr">
                    <a:solidFill>
                      <a:srgbClr val="1A1A2E"/>
                    </a:solidFill>
                  </a:tcPr>
                </a:tc>
                <a:tc>
                  <a:txBody>
                    <a:bodyPr/>
                    <a:lstStyle/>
                    <a:p>
                      <a:pPr algn="ctr">
                        <a:defRPr sz="1400" b="1">
                          <a:solidFill>
                            <a:srgbClr val="E2B714"/>
                          </a:solidFill>
                          <a:latin typeface="Segoe UI"/>
                        </a:defRPr>
                      </a:pPr>
                      <a:r>
                        <a:t>Low-Med</a:t>
                      </a:r>
                    </a:p>
                  </a:txBody>
                  <a:tcPr anchor="ctr">
                    <a:solidFill>
                      <a:srgbClr val="1A1A2E"/>
                    </a:solidFill>
                  </a:tcPr>
                </a:tc>
                <a:tc>
                  <a:txBody>
                    <a:bodyPr/>
                    <a:lstStyle/>
                    <a:p>
                      <a:pPr algn="ctr">
                        <a:defRPr sz="1400" b="0">
                          <a:solidFill>
                            <a:srgbClr val="F0F0F0"/>
                          </a:solidFill>
                          <a:latin typeface="Segoe UI"/>
                        </a:defRPr>
                      </a:pPr>
                      <a:r>
                        <a:t>Med-High</a:t>
                      </a:r>
                    </a:p>
                  </a:txBody>
                  <a:tcPr anchor="ctr">
                    <a:solidFill>
                      <a:srgbClr val="1A1A2E"/>
                    </a:solidFill>
                  </a:tcPr>
                </a:tc>
                <a:tc>
                  <a:txBody>
                    <a:bodyPr/>
                    <a:lstStyle/>
                    <a:p>
                      <a:pPr algn="ctr">
                        <a:defRPr sz="1400" b="0">
                          <a:solidFill>
                            <a:srgbClr val="F0F0F0"/>
                          </a:solidFill>
                          <a:latin typeface="Segoe UI"/>
                        </a:defRPr>
                      </a:pPr>
                      <a:r>
                        <a:t>Very High</a:t>
                      </a:r>
                    </a:p>
                  </a:txBody>
                  <a:tcPr anchor="ctr">
                    <a:solidFill>
                      <a:srgbClr val="1A1A2E"/>
                    </a:solidFill>
                  </a:tcPr>
                </a:tc>
                <a:tc>
                  <a:txBody>
                    <a:bodyPr/>
                    <a:lstStyle/>
                    <a:p>
                      <a:pPr algn="ctr">
                        <a:defRPr sz="1400" b="0">
                          <a:solidFill>
                            <a:srgbClr val="F0F0F0"/>
                          </a:solidFill>
                          <a:latin typeface="Segoe UI"/>
                        </a:defRPr>
                      </a:pPr>
                      <a:r>
                        <a:t>Med-High</a:t>
                      </a:r>
                    </a:p>
                  </a:txBody>
                  <a:tcPr anchor="ctr">
                    <a:solidFill>
                      <a:srgbClr val="1A1A2E"/>
                    </a:solidFill>
                  </a:tcPr>
                </a:tc>
                <a:tc>
                  <a:txBody>
                    <a:bodyPr/>
                    <a:lstStyle/>
                    <a:p>
                      <a:pPr algn="ctr">
                        <a:defRPr sz="1400" b="0">
                          <a:solidFill>
                            <a:srgbClr val="F0F0F0"/>
                          </a:solidFill>
                          <a:latin typeface="Segoe UI"/>
                        </a:defRPr>
                      </a:pPr>
                      <a:r>
                        <a:t>High</a:t>
                      </a:r>
                    </a:p>
                  </a:txBody>
                  <a:tcPr anchor="ctr">
                    <a:solidFill>
                      <a:srgbClr val="1A1A2E"/>
                    </a:solidFill>
                  </a:tcPr>
                </a:tc>
                <a:extLst>
                  <a:ext uri="{0D108BD9-81ED-4DB2-BD59-A6C34878D82A}">
                    <a16:rowId xmlns:a16="http://schemas.microsoft.com/office/drawing/2014/main" val="10001"/>
                  </a:ext>
                </a:extLst>
              </a:tr>
              <a:tr h="628650">
                <a:tc>
                  <a:txBody>
                    <a:bodyPr/>
                    <a:lstStyle/>
                    <a:p>
                      <a:pPr algn="ctr">
                        <a:defRPr sz="1400" b="0">
                          <a:solidFill>
                            <a:srgbClr val="F0F0F0"/>
                          </a:solidFill>
                          <a:latin typeface="Segoe UI"/>
                        </a:defRPr>
                      </a:pPr>
                      <a:r>
                        <a:t>Machinability</a:t>
                      </a:r>
                    </a:p>
                  </a:txBody>
                  <a:tcPr anchor="ctr">
                    <a:solidFill>
                      <a:srgbClr val="222238"/>
                    </a:solidFill>
                  </a:tcPr>
                </a:tc>
                <a:tc>
                  <a:txBody>
                    <a:bodyPr/>
                    <a:lstStyle/>
                    <a:p>
                      <a:pPr algn="ctr">
                        <a:defRPr sz="1400" b="1">
                          <a:solidFill>
                            <a:srgbClr val="E2B714"/>
                          </a:solidFill>
                          <a:latin typeface="Segoe UI"/>
                        </a:defRPr>
                      </a:pPr>
                      <a:r>
                        <a:t>Excellent</a:t>
                      </a:r>
                    </a:p>
                  </a:txBody>
                  <a:tcPr anchor="ctr">
                    <a:solidFill>
                      <a:srgbClr val="222238"/>
                    </a:solidFill>
                  </a:tcPr>
                </a:tc>
                <a:tc>
                  <a:txBody>
                    <a:bodyPr/>
                    <a:lstStyle/>
                    <a:p>
                      <a:pPr algn="ctr">
                        <a:defRPr sz="1400" b="0">
                          <a:solidFill>
                            <a:srgbClr val="F0F0F0"/>
                          </a:solidFill>
                          <a:latin typeface="Segoe UI"/>
                        </a:defRPr>
                      </a:pPr>
                      <a:r>
                        <a:t>Good</a:t>
                      </a:r>
                    </a:p>
                  </a:txBody>
                  <a:tcPr anchor="ctr">
                    <a:solidFill>
                      <a:srgbClr val="222238"/>
                    </a:solidFill>
                  </a:tcPr>
                </a:tc>
                <a:tc>
                  <a:txBody>
                    <a:bodyPr/>
                    <a:lstStyle/>
                    <a:p>
                      <a:pPr algn="ctr">
                        <a:defRPr sz="1400" b="0">
                          <a:solidFill>
                            <a:srgbClr val="F0F0F0"/>
                          </a:solidFill>
                          <a:latin typeface="Segoe UI"/>
                        </a:defRPr>
                      </a:pPr>
                      <a:r>
                        <a:t>Fair</a:t>
                      </a:r>
                    </a:p>
                  </a:txBody>
                  <a:tcPr anchor="ctr">
                    <a:solidFill>
                      <a:srgbClr val="222238"/>
                    </a:solidFill>
                  </a:tcPr>
                </a:tc>
                <a:tc>
                  <a:txBody>
                    <a:bodyPr/>
                    <a:lstStyle/>
                    <a:p>
                      <a:pPr algn="ctr">
                        <a:defRPr sz="1400" b="1">
                          <a:solidFill>
                            <a:srgbClr val="E2B714"/>
                          </a:solidFill>
                          <a:latin typeface="Segoe UI"/>
                        </a:defRPr>
                      </a:pPr>
                      <a:r>
                        <a:t>Excellent</a:t>
                      </a:r>
                    </a:p>
                  </a:txBody>
                  <a:tcPr anchor="ctr">
                    <a:solidFill>
                      <a:srgbClr val="222238"/>
                    </a:solidFill>
                  </a:tcPr>
                </a:tc>
                <a:tc>
                  <a:txBody>
                    <a:bodyPr/>
                    <a:lstStyle/>
                    <a:p>
                      <a:pPr algn="ctr">
                        <a:defRPr sz="1400" b="0">
                          <a:solidFill>
                            <a:srgbClr val="F0F0F0"/>
                          </a:solidFill>
                          <a:latin typeface="Segoe UI"/>
                        </a:defRPr>
                      </a:pPr>
                      <a:r>
                        <a:t>Poor</a:t>
                      </a:r>
                    </a:p>
                  </a:txBody>
                  <a:tcPr anchor="ctr">
                    <a:solidFill>
                      <a:srgbClr val="222238"/>
                    </a:solidFill>
                  </a:tcPr>
                </a:tc>
                <a:extLst>
                  <a:ext uri="{0D108BD9-81ED-4DB2-BD59-A6C34878D82A}">
                    <a16:rowId xmlns:a16="http://schemas.microsoft.com/office/drawing/2014/main" val="10002"/>
                  </a:ext>
                </a:extLst>
              </a:tr>
              <a:tr h="628650">
                <a:tc>
                  <a:txBody>
                    <a:bodyPr/>
                    <a:lstStyle/>
                    <a:p>
                      <a:pPr algn="ctr">
                        <a:defRPr sz="1400" b="0">
                          <a:solidFill>
                            <a:srgbClr val="F0F0F0"/>
                          </a:solidFill>
                          <a:latin typeface="Segoe UI"/>
                        </a:defRPr>
                      </a:pPr>
                      <a:r>
                        <a:t>Weldability</a:t>
                      </a:r>
                    </a:p>
                  </a:txBody>
                  <a:tcPr anchor="ctr">
                    <a:solidFill>
                      <a:srgbClr val="1A1A2E"/>
                    </a:solidFill>
                  </a:tcPr>
                </a:tc>
                <a:tc>
                  <a:txBody>
                    <a:bodyPr/>
                    <a:lstStyle/>
                    <a:p>
                      <a:pPr algn="ctr">
                        <a:defRPr sz="1400" b="1">
                          <a:solidFill>
                            <a:srgbClr val="E2B714"/>
                          </a:solidFill>
                          <a:latin typeface="Segoe UI"/>
                        </a:defRPr>
                      </a:pPr>
                      <a:r>
                        <a:t>Excellent</a:t>
                      </a:r>
                    </a:p>
                  </a:txBody>
                  <a:tcPr anchor="ctr">
                    <a:solidFill>
                      <a:srgbClr val="1A1A2E"/>
                    </a:solidFill>
                  </a:tcPr>
                </a:tc>
                <a:tc>
                  <a:txBody>
                    <a:bodyPr/>
                    <a:lstStyle/>
                    <a:p>
                      <a:pPr algn="ctr">
                        <a:defRPr sz="1400" b="0">
                          <a:solidFill>
                            <a:srgbClr val="F0F0F0"/>
                          </a:solidFill>
                          <a:latin typeface="Segoe UI"/>
                        </a:defRPr>
                      </a:pPr>
                      <a:r>
                        <a:t>Moderate</a:t>
                      </a:r>
                    </a:p>
                  </a:txBody>
                  <a:tcPr anchor="ctr">
                    <a:solidFill>
                      <a:srgbClr val="1A1A2E"/>
                    </a:solidFill>
                  </a:tcPr>
                </a:tc>
                <a:tc>
                  <a:txBody>
                    <a:bodyPr/>
                    <a:lstStyle/>
                    <a:p>
                      <a:pPr algn="ctr">
                        <a:defRPr sz="1400" b="0">
                          <a:solidFill>
                            <a:srgbClr val="F0F0F0"/>
                          </a:solidFill>
                          <a:latin typeface="Segoe UI"/>
                        </a:defRPr>
                      </a:pPr>
                      <a:r>
                        <a:t>Difficult</a:t>
                      </a:r>
                    </a:p>
                  </a:txBody>
                  <a:tcPr anchor="ctr">
                    <a:solidFill>
                      <a:srgbClr val="1A1A2E"/>
                    </a:solidFill>
                  </a:tcPr>
                </a:tc>
                <a:tc>
                  <a:txBody>
                    <a:bodyPr/>
                    <a:lstStyle/>
                    <a:p>
                      <a:pPr algn="ctr">
                        <a:defRPr sz="1400" b="0">
                          <a:solidFill>
                            <a:srgbClr val="F0F0F0"/>
                          </a:solidFill>
                          <a:latin typeface="Segoe UI"/>
                        </a:defRPr>
                      </a:pPr>
                      <a:r>
                        <a:t>Difficult</a:t>
                      </a:r>
                    </a:p>
                  </a:txBody>
                  <a:tcPr anchor="ctr">
                    <a:solidFill>
                      <a:srgbClr val="1A1A2E"/>
                    </a:solidFill>
                  </a:tcPr>
                </a:tc>
                <a:tc>
                  <a:txBody>
                    <a:bodyPr/>
                    <a:lstStyle/>
                    <a:p>
                      <a:pPr algn="ctr">
                        <a:defRPr sz="1400" b="0">
                          <a:solidFill>
                            <a:srgbClr val="F0F0F0"/>
                          </a:solidFill>
                          <a:latin typeface="Segoe UI"/>
                        </a:defRPr>
                      </a:pPr>
                      <a:r>
                        <a:t>Moderate</a:t>
                      </a:r>
                    </a:p>
                  </a:txBody>
                  <a:tcPr anchor="ctr">
                    <a:solidFill>
                      <a:srgbClr val="1A1A2E"/>
                    </a:solidFill>
                  </a:tcPr>
                </a:tc>
                <a:extLst>
                  <a:ext uri="{0D108BD9-81ED-4DB2-BD59-A6C34878D82A}">
                    <a16:rowId xmlns:a16="http://schemas.microsoft.com/office/drawing/2014/main" val="10003"/>
                  </a:ext>
                </a:extLst>
              </a:tr>
              <a:tr h="628650">
                <a:tc>
                  <a:txBody>
                    <a:bodyPr/>
                    <a:lstStyle/>
                    <a:p>
                      <a:pPr algn="ctr">
                        <a:defRPr sz="1400" b="0">
                          <a:solidFill>
                            <a:srgbClr val="F0F0F0"/>
                          </a:solidFill>
                          <a:latin typeface="Segoe UI"/>
                        </a:defRPr>
                      </a:pPr>
                      <a:r>
                        <a:t>Rusts?</a:t>
                      </a:r>
                    </a:p>
                  </a:txBody>
                  <a:tcPr anchor="ctr">
                    <a:solidFill>
                      <a:srgbClr val="222238"/>
                    </a:solidFill>
                  </a:tcPr>
                </a:tc>
                <a:tc>
                  <a:txBody>
                    <a:bodyPr/>
                    <a:lstStyle/>
                    <a:p>
                      <a:pPr algn="ctr">
                        <a:defRPr sz="1400" b="0">
                          <a:solidFill>
                            <a:srgbClr val="F0F0F0"/>
                          </a:solidFill>
                          <a:latin typeface="Segoe UI"/>
                        </a:defRPr>
                      </a:pPr>
                      <a:r>
                        <a:t>Yes!</a:t>
                      </a:r>
                    </a:p>
                  </a:txBody>
                  <a:tcPr anchor="ctr">
                    <a:solidFill>
                      <a:srgbClr val="222238"/>
                    </a:solidFill>
                  </a:tcPr>
                </a:tc>
                <a:tc>
                  <a:txBody>
                    <a:bodyPr/>
                    <a:lstStyle/>
                    <a:p>
                      <a:pPr algn="ctr">
                        <a:defRPr sz="1400" b="0">
                          <a:solidFill>
                            <a:srgbClr val="F0F0F0"/>
                          </a:solidFill>
                          <a:latin typeface="Segoe UI"/>
                        </a:defRPr>
                      </a:pPr>
                      <a:r>
                        <a:t>Yes</a:t>
                      </a:r>
                    </a:p>
                  </a:txBody>
                  <a:tcPr anchor="ctr">
                    <a:solidFill>
                      <a:srgbClr val="222238"/>
                    </a:solidFill>
                  </a:tcPr>
                </a:tc>
                <a:tc>
                  <a:txBody>
                    <a:bodyPr/>
                    <a:lstStyle/>
                    <a:p>
                      <a:pPr algn="ctr">
                        <a:defRPr sz="1400" b="0">
                          <a:solidFill>
                            <a:srgbClr val="F0F0F0"/>
                          </a:solidFill>
                          <a:latin typeface="Segoe UI"/>
                        </a:defRPr>
                      </a:pPr>
                      <a:r>
                        <a:t>Moderate</a:t>
                      </a:r>
                    </a:p>
                  </a:txBody>
                  <a:tcPr anchor="ctr">
                    <a:solidFill>
                      <a:srgbClr val="222238"/>
                    </a:solidFill>
                  </a:tcPr>
                </a:tc>
                <a:tc>
                  <a:txBody>
                    <a:bodyPr/>
                    <a:lstStyle/>
                    <a:p>
                      <a:pPr algn="ctr">
                        <a:defRPr sz="1400" b="0">
                          <a:solidFill>
                            <a:srgbClr val="F0F0F0"/>
                          </a:solidFill>
                          <a:latin typeface="Segoe UI"/>
                        </a:defRPr>
                      </a:pPr>
                      <a:r>
                        <a:t>Slowly</a:t>
                      </a:r>
                    </a:p>
                  </a:txBody>
                  <a:tcPr anchor="ctr">
                    <a:solidFill>
                      <a:srgbClr val="222238"/>
                    </a:solidFill>
                  </a:tcPr>
                </a:tc>
                <a:tc>
                  <a:txBody>
                    <a:bodyPr/>
                    <a:lstStyle/>
                    <a:p>
                      <a:pPr algn="ctr">
                        <a:defRPr sz="1400" b="1">
                          <a:solidFill>
                            <a:srgbClr val="E2B714"/>
                          </a:solidFill>
                          <a:latin typeface="Segoe UI"/>
                        </a:defRPr>
                      </a:pPr>
                      <a:r>
                        <a:t>No</a:t>
                      </a:r>
                    </a:p>
                  </a:txBody>
                  <a:tcPr anchor="ctr">
                    <a:solidFill>
                      <a:srgbClr val="222238"/>
                    </a:solidFill>
                  </a:tcPr>
                </a:tc>
                <a:extLst>
                  <a:ext uri="{0D108BD9-81ED-4DB2-BD59-A6C34878D82A}">
                    <a16:rowId xmlns:a16="http://schemas.microsoft.com/office/drawing/2014/main" val="10004"/>
                  </a:ext>
                </a:extLst>
              </a:tr>
              <a:tr h="628650">
                <a:tc>
                  <a:txBody>
                    <a:bodyPr/>
                    <a:lstStyle/>
                    <a:p>
                      <a:pPr algn="ctr">
                        <a:defRPr sz="1400" b="0">
                          <a:solidFill>
                            <a:srgbClr val="F0F0F0"/>
                          </a:solidFill>
                          <a:latin typeface="Segoe UI"/>
                        </a:defRPr>
                      </a:pPr>
                      <a:r>
                        <a:t>Heat Treatable</a:t>
                      </a:r>
                    </a:p>
                  </a:txBody>
                  <a:tcPr anchor="ctr">
                    <a:solidFill>
                      <a:srgbClr val="1A1A2E"/>
                    </a:solidFill>
                  </a:tcPr>
                </a:tc>
                <a:tc>
                  <a:txBody>
                    <a:bodyPr/>
                    <a:lstStyle/>
                    <a:p>
                      <a:pPr algn="ctr">
                        <a:defRPr sz="1400" b="1">
                          <a:solidFill>
                            <a:srgbClr val="E2B714"/>
                          </a:solidFill>
                          <a:latin typeface="Segoe UI"/>
                        </a:defRPr>
                      </a:pPr>
                      <a:r>
                        <a:t>No</a:t>
                      </a:r>
                    </a:p>
                  </a:txBody>
                  <a:tcPr anchor="ctr">
                    <a:solidFill>
                      <a:srgbClr val="1A1A2E"/>
                    </a:solidFill>
                  </a:tcPr>
                </a:tc>
                <a:tc>
                  <a:txBody>
                    <a:bodyPr/>
                    <a:lstStyle/>
                    <a:p>
                      <a:pPr algn="ctr">
                        <a:defRPr sz="1400" b="1">
                          <a:solidFill>
                            <a:srgbClr val="E2B714"/>
                          </a:solidFill>
                          <a:latin typeface="Segoe UI"/>
                        </a:defRPr>
                      </a:pPr>
                      <a:r>
                        <a:t>Yes</a:t>
                      </a:r>
                    </a:p>
                  </a:txBody>
                  <a:tcPr anchor="ctr">
                    <a:solidFill>
                      <a:srgbClr val="1A1A2E"/>
                    </a:solidFill>
                  </a:tcPr>
                </a:tc>
                <a:tc>
                  <a:txBody>
                    <a:bodyPr/>
                    <a:lstStyle/>
                    <a:p>
                      <a:pPr algn="ctr">
                        <a:defRPr sz="1400" b="0">
                          <a:solidFill>
                            <a:srgbClr val="F0F0F0"/>
                          </a:solidFill>
                          <a:latin typeface="Segoe UI"/>
                        </a:defRPr>
                      </a:pPr>
                      <a:r>
                        <a:t>Yes</a:t>
                      </a:r>
                    </a:p>
                  </a:txBody>
                  <a:tcPr anchor="ctr">
                    <a:solidFill>
                      <a:srgbClr val="1A1A2E"/>
                    </a:solidFill>
                  </a:tcPr>
                </a:tc>
                <a:tc>
                  <a:txBody>
                    <a:bodyPr/>
                    <a:lstStyle/>
                    <a:p>
                      <a:pPr algn="ctr">
                        <a:defRPr sz="1400" b="0">
                          <a:solidFill>
                            <a:srgbClr val="F0F0F0"/>
                          </a:solidFill>
                          <a:latin typeface="Segoe UI"/>
                        </a:defRPr>
                      </a:pPr>
                      <a:r>
                        <a:t>No</a:t>
                      </a:r>
                    </a:p>
                  </a:txBody>
                  <a:tcPr anchor="ctr">
                    <a:solidFill>
                      <a:srgbClr val="1A1A2E"/>
                    </a:solidFill>
                  </a:tcPr>
                </a:tc>
                <a:tc>
                  <a:txBody>
                    <a:bodyPr/>
                    <a:lstStyle/>
                    <a:p>
                      <a:pPr algn="ctr">
                        <a:defRPr sz="1400" b="0">
                          <a:solidFill>
                            <a:srgbClr val="F0F0F0"/>
                          </a:solidFill>
                          <a:latin typeface="Segoe UI"/>
                        </a:defRPr>
                      </a:pPr>
                      <a:r>
                        <a:t>No</a:t>
                      </a:r>
                    </a:p>
                  </a:txBody>
                  <a:tcPr anchor="ctr">
                    <a:solidFill>
                      <a:srgbClr val="1A1A2E"/>
                    </a:solidFill>
                  </a:tcPr>
                </a:tc>
                <a:extLst>
                  <a:ext uri="{0D108BD9-81ED-4DB2-BD59-A6C34878D82A}">
                    <a16:rowId xmlns:a16="http://schemas.microsoft.com/office/drawing/2014/main" val="10005"/>
                  </a:ext>
                </a:extLst>
              </a:tr>
              <a:tr h="628650">
                <a:tc>
                  <a:txBody>
                    <a:bodyPr/>
                    <a:lstStyle/>
                    <a:p>
                      <a:pPr algn="ctr">
                        <a:defRPr sz="1400" b="0">
                          <a:solidFill>
                            <a:srgbClr val="F0F0F0"/>
                          </a:solidFill>
                          <a:latin typeface="Segoe UI"/>
                        </a:defRPr>
                      </a:pPr>
                      <a:r>
                        <a:t>Magnetic?</a:t>
                      </a:r>
                    </a:p>
                  </a:txBody>
                  <a:tcPr anchor="ctr">
                    <a:solidFill>
                      <a:srgbClr val="222238"/>
                    </a:solidFill>
                  </a:tcPr>
                </a:tc>
                <a:tc>
                  <a:txBody>
                    <a:bodyPr/>
                    <a:lstStyle/>
                    <a:p>
                      <a:pPr algn="ctr">
                        <a:defRPr sz="1400" b="0">
                          <a:solidFill>
                            <a:srgbClr val="F0F0F0"/>
                          </a:solidFill>
                          <a:latin typeface="Segoe UI"/>
                        </a:defRPr>
                      </a:pPr>
                      <a:r>
                        <a:t>Yes</a:t>
                      </a:r>
                    </a:p>
                  </a:txBody>
                  <a:tcPr anchor="ctr">
                    <a:solidFill>
                      <a:srgbClr val="222238"/>
                    </a:solidFill>
                  </a:tcPr>
                </a:tc>
                <a:tc>
                  <a:txBody>
                    <a:bodyPr/>
                    <a:lstStyle/>
                    <a:p>
                      <a:pPr algn="ctr">
                        <a:defRPr sz="1400" b="0">
                          <a:solidFill>
                            <a:srgbClr val="F0F0F0"/>
                          </a:solidFill>
                          <a:latin typeface="Segoe UI"/>
                        </a:defRPr>
                      </a:pPr>
                      <a:r>
                        <a:t>Yes</a:t>
                      </a:r>
                    </a:p>
                  </a:txBody>
                  <a:tcPr anchor="ctr">
                    <a:solidFill>
                      <a:srgbClr val="222238"/>
                    </a:solidFill>
                  </a:tcPr>
                </a:tc>
                <a:tc>
                  <a:txBody>
                    <a:bodyPr/>
                    <a:lstStyle/>
                    <a:p>
                      <a:pPr algn="ctr">
                        <a:defRPr sz="1400" b="0">
                          <a:solidFill>
                            <a:srgbClr val="F0F0F0"/>
                          </a:solidFill>
                          <a:latin typeface="Segoe UI"/>
                        </a:defRPr>
                      </a:pPr>
                      <a:r>
                        <a:t>Yes</a:t>
                      </a:r>
                    </a:p>
                  </a:txBody>
                  <a:tcPr anchor="ctr">
                    <a:solidFill>
                      <a:srgbClr val="222238"/>
                    </a:solidFill>
                  </a:tcPr>
                </a:tc>
                <a:tc>
                  <a:txBody>
                    <a:bodyPr/>
                    <a:lstStyle/>
                    <a:p>
                      <a:pPr algn="ctr">
                        <a:defRPr sz="1400" b="0">
                          <a:solidFill>
                            <a:srgbClr val="F0F0F0"/>
                          </a:solidFill>
                          <a:latin typeface="Segoe UI"/>
                        </a:defRPr>
                      </a:pPr>
                      <a:r>
                        <a:t>Yes</a:t>
                      </a:r>
                    </a:p>
                  </a:txBody>
                  <a:tcPr anchor="ctr">
                    <a:solidFill>
                      <a:srgbClr val="222238"/>
                    </a:solidFill>
                  </a:tcPr>
                </a:tc>
                <a:tc>
                  <a:txBody>
                    <a:bodyPr/>
                    <a:lstStyle/>
                    <a:p>
                      <a:pPr algn="ctr">
                        <a:defRPr sz="1400" b="0">
                          <a:solidFill>
                            <a:srgbClr val="F0F0F0"/>
                          </a:solidFill>
                          <a:latin typeface="Segoe UI"/>
                        </a:defRPr>
                      </a:pPr>
                      <a:r>
                        <a:t>Varies</a:t>
                      </a:r>
                    </a:p>
                  </a:txBody>
                  <a:tcPr anchor="ctr">
                    <a:solidFill>
                      <a:srgbClr val="222238"/>
                    </a:solidFill>
                  </a:tcPr>
                </a:tc>
                <a:extLst>
                  <a:ext uri="{0D108BD9-81ED-4DB2-BD59-A6C34878D82A}">
                    <a16:rowId xmlns:a16="http://schemas.microsoft.com/office/drawing/2014/main" val="10006"/>
                  </a:ext>
                </a:extLst>
              </a:tr>
              <a:tr h="628650">
                <a:tc>
                  <a:txBody>
                    <a:bodyPr/>
                    <a:lstStyle/>
                    <a:p>
                      <a:pPr algn="ctr">
                        <a:defRPr sz="1400" b="0">
                          <a:solidFill>
                            <a:srgbClr val="F0F0F0"/>
                          </a:solidFill>
                          <a:latin typeface="Segoe UI"/>
                        </a:defRPr>
                      </a:pPr>
                      <a:r>
                        <a:t>Relative Cost</a:t>
                      </a:r>
                    </a:p>
                  </a:txBody>
                  <a:tcPr anchor="ctr">
                    <a:solidFill>
                      <a:srgbClr val="1A1A2E"/>
                    </a:solidFill>
                  </a:tcPr>
                </a:tc>
                <a:tc>
                  <a:txBody>
                    <a:bodyPr/>
                    <a:lstStyle/>
                    <a:p>
                      <a:pPr algn="ctr">
                        <a:defRPr sz="1400" b="0">
                          <a:solidFill>
                            <a:srgbClr val="F0F0F0"/>
                          </a:solidFill>
                          <a:latin typeface="Segoe UI"/>
                        </a:defRPr>
                      </a:pPr>
                      <a:r>
                        <a:t>$</a:t>
                      </a:r>
                    </a:p>
                  </a:txBody>
                  <a:tcPr anchor="ctr">
                    <a:solidFill>
                      <a:srgbClr val="1A1A2E"/>
                    </a:solidFill>
                  </a:tcPr>
                </a:tc>
                <a:tc>
                  <a:txBody>
                    <a:bodyPr/>
                    <a:lstStyle/>
                    <a:p>
                      <a:pPr algn="ctr">
                        <a:defRPr sz="1400" b="0">
                          <a:solidFill>
                            <a:srgbClr val="F0F0F0"/>
                          </a:solidFill>
                          <a:latin typeface="Segoe UI"/>
                        </a:defRPr>
                      </a:pPr>
                      <a:r>
                        <a:t>$$</a:t>
                      </a:r>
                    </a:p>
                  </a:txBody>
                  <a:tcPr anchor="ctr">
                    <a:solidFill>
                      <a:srgbClr val="1A1A2E"/>
                    </a:solidFill>
                  </a:tcPr>
                </a:tc>
                <a:tc>
                  <a:txBody>
                    <a:bodyPr/>
                    <a:lstStyle/>
                    <a:p>
                      <a:pPr algn="ctr">
                        <a:defRPr sz="1400" b="0">
                          <a:solidFill>
                            <a:srgbClr val="F0F0F0"/>
                          </a:solidFill>
                          <a:latin typeface="Segoe UI"/>
                        </a:defRPr>
                      </a:pPr>
                      <a:r>
                        <a:t>$$$</a:t>
                      </a:r>
                    </a:p>
                  </a:txBody>
                  <a:tcPr anchor="ctr">
                    <a:solidFill>
                      <a:srgbClr val="1A1A2E"/>
                    </a:solidFill>
                  </a:tcPr>
                </a:tc>
                <a:tc>
                  <a:txBody>
                    <a:bodyPr/>
                    <a:lstStyle/>
                    <a:p>
                      <a:pPr algn="ctr">
                        <a:defRPr sz="1400" b="1">
                          <a:solidFill>
                            <a:srgbClr val="E2B714"/>
                          </a:solidFill>
                          <a:latin typeface="Segoe UI"/>
                        </a:defRPr>
                      </a:pPr>
                      <a:r>
                        <a:t>$</a:t>
                      </a:r>
                    </a:p>
                  </a:txBody>
                  <a:tcPr anchor="ctr">
                    <a:solidFill>
                      <a:srgbClr val="1A1A2E"/>
                    </a:solidFill>
                  </a:tcPr>
                </a:tc>
                <a:tc>
                  <a:txBody>
                    <a:bodyPr/>
                    <a:lstStyle/>
                    <a:p>
                      <a:pPr algn="ctr">
                        <a:defRPr sz="1400" b="1">
                          <a:solidFill>
                            <a:srgbClr val="E2B714"/>
                          </a:solidFill>
                          <a:latin typeface="Segoe UI"/>
                        </a:defRPr>
                      </a:pPr>
                      <a:r>
                        <a:t>$$$</a:t>
                      </a:r>
                    </a:p>
                  </a:txBody>
                  <a:tcPr anchor="ctr">
                    <a:solidFill>
                      <a:srgbClr val="1A1A2E"/>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972800" cy="731520"/>
          </a:xfrm>
          <a:prstGeom prst="rect">
            <a:avLst/>
          </a:prstGeom>
          <a:noFill/>
        </p:spPr>
        <p:txBody>
          <a:bodyPr wrap="none">
            <a:spAutoFit/>
          </a:bodyPr>
          <a:lstStyle/>
          <a:p>
            <a:r>
              <a:rPr sz="3600" b="1">
                <a:solidFill>
                  <a:srgbClr val="F0F0F0"/>
                </a:solidFill>
                <a:latin typeface="Segoe UI"/>
              </a:rPr>
              <a:t>Quick Reference </a:t>
            </a:r>
            <a:r>
              <a:rPr sz="2400">
                <a:solidFill>
                  <a:srgbClr val="C0C0C0"/>
                </a:solidFill>
                <a:latin typeface="Segoe UI"/>
              </a:rPr>
              <a:t>Non-Ferrous Metals</a:t>
            </a:r>
          </a:p>
        </p:txBody>
      </p:sp>
      <p:sp>
        <p:nvSpPr>
          <p:cNvPr id="3" name="Rectangle 2"/>
          <p:cNvSpPr/>
          <p:nvPr/>
        </p:nvSpPr>
        <p:spPr>
          <a:xfrm>
            <a:off x="548640" y="914400"/>
            <a:ext cx="2743200" cy="38100"/>
          </a:xfrm>
          <a:prstGeom prst="rect">
            <a:avLst/>
          </a:prstGeom>
          <a:solidFill>
            <a:srgbClr val="E2B7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548640" y="1280160"/>
          <a:ext cx="10972800" cy="50292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628650">
                <a:tc>
                  <a:txBody>
                    <a:bodyPr/>
                    <a:lstStyle/>
                    <a:p>
                      <a:pPr algn="ctr">
                        <a:defRPr sz="1500" b="1">
                          <a:solidFill>
                            <a:srgbClr val="F0F0F0"/>
                          </a:solidFill>
                          <a:latin typeface="Segoe UI"/>
                        </a:defRPr>
                      </a:pPr>
                      <a:r>
                        <a:t>Property</a:t>
                      </a:r>
                    </a:p>
                  </a:txBody>
                  <a:tcPr anchor="ctr">
                    <a:solidFill>
                      <a:srgbClr val="3A5A8A"/>
                    </a:solidFill>
                  </a:tcPr>
                </a:tc>
                <a:tc>
                  <a:txBody>
                    <a:bodyPr/>
                    <a:lstStyle/>
                    <a:p>
                      <a:pPr algn="ctr">
                        <a:defRPr sz="1500" b="1">
                          <a:solidFill>
                            <a:srgbClr val="F0F0F0"/>
                          </a:solidFill>
                          <a:latin typeface="Segoe UI"/>
                        </a:defRPr>
                      </a:pPr>
                      <a:r>
                        <a:t>6061 Aluminum</a:t>
                      </a:r>
                    </a:p>
                  </a:txBody>
                  <a:tcPr anchor="ctr">
                    <a:solidFill>
                      <a:srgbClr val="3A5A8A"/>
                    </a:solidFill>
                  </a:tcPr>
                </a:tc>
                <a:tc>
                  <a:txBody>
                    <a:bodyPr/>
                    <a:lstStyle/>
                    <a:p>
                      <a:pPr algn="ctr">
                        <a:defRPr sz="1500" b="1">
                          <a:solidFill>
                            <a:srgbClr val="F0F0F0"/>
                          </a:solidFill>
                          <a:latin typeface="Segoe UI"/>
                        </a:defRPr>
                      </a:pPr>
                      <a:r>
                        <a:t>Copper</a:t>
                      </a:r>
                    </a:p>
                  </a:txBody>
                  <a:tcPr anchor="ctr">
                    <a:solidFill>
                      <a:srgbClr val="3A5A8A"/>
                    </a:solidFill>
                  </a:tcPr>
                </a:tc>
                <a:tc>
                  <a:txBody>
                    <a:bodyPr/>
                    <a:lstStyle/>
                    <a:p>
                      <a:pPr algn="ctr">
                        <a:defRPr sz="1500" b="1">
                          <a:solidFill>
                            <a:srgbClr val="F0F0F0"/>
                          </a:solidFill>
                          <a:latin typeface="Segoe UI"/>
                        </a:defRPr>
                      </a:pPr>
                      <a:r>
                        <a:t>Brass</a:t>
                      </a:r>
                    </a:p>
                  </a:txBody>
                  <a:tcPr anchor="ctr">
                    <a:solidFill>
                      <a:srgbClr val="3A5A8A"/>
                    </a:solidFill>
                  </a:tcPr>
                </a:tc>
                <a:tc>
                  <a:txBody>
                    <a:bodyPr/>
                    <a:lstStyle/>
                    <a:p>
                      <a:pPr algn="ctr">
                        <a:defRPr sz="1500" b="1">
                          <a:solidFill>
                            <a:srgbClr val="F0F0F0"/>
                          </a:solidFill>
                          <a:latin typeface="Segoe UI"/>
                        </a:defRPr>
                      </a:pPr>
                      <a:r>
                        <a:t>Titanium</a:t>
                      </a:r>
                    </a:p>
                  </a:txBody>
                  <a:tcPr anchor="ctr">
                    <a:solidFill>
                      <a:srgbClr val="3A5A8A"/>
                    </a:solidFill>
                  </a:tcPr>
                </a:tc>
                <a:extLst>
                  <a:ext uri="{0D108BD9-81ED-4DB2-BD59-A6C34878D82A}">
                    <a16:rowId xmlns:a16="http://schemas.microsoft.com/office/drawing/2014/main" val="10000"/>
                  </a:ext>
                </a:extLst>
              </a:tr>
              <a:tr h="628650">
                <a:tc>
                  <a:txBody>
                    <a:bodyPr/>
                    <a:lstStyle/>
                    <a:p>
                      <a:pPr algn="ctr">
                        <a:defRPr sz="1400" b="0">
                          <a:solidFill>
                            <a:srgbClr val="F0F0F0"/>
                          </a:solidFill>
                          <a:latin typeface="Segoe UI"/>
                        </a:defRPr>
                      </a:pPr>
                      <a:r>
                        <a:t>Weight</a:t>
                      </a:r>
                    </a:p>
                  </a:txBody>
                  <a:tcPr anchor="ctr">
                    <a:solidFill>
                      <a:srgbClr val="1A1A2E"/>
                    </a:solidFill>
                  </a:tcPr>
                </a:tc>
                <a:tc>
                  <a:txBody>
                    <a:bodyPr/>
                    <a:lstStyle/>
                    <a:p>
                      <a:pPr algn="ctr">
                        <a:defRPr sz="1400" b="1">
                          <a:solidFill>
                            <a:srgbClr val="E2B714"/>
                          </a:solidFill>
                          <a:latin typeface="Segoe UI"/>
                        </a:defRPr>
                      </a:pPr>
                      <a:r>
                        <a:t>Light (~1/3)</a:t>
                      </a:r>
                    </a:p>
                  </a:txBody>
                  <a:tcPr anchor="ctr">
                    <a:solidFill>
                      <a:srgbClr val="1A1A2E"/>
                    </a:solidFill>
                  </a:tcPr>
                </a:tc>
                <a:tc>
                  <a:txBody>
                    <a:bodyPr/>
                    <a:lstStyle/>
                    <a:p>
                      <a:pPr algn="ctr">
                        <a:defRPr sz="1400" b="0">
                          <a:solidFill>
                            <a:srgbClr val="F0F0F0"/>
                          </a:solidFill>
                          <a:latin typeface="Segoe UI"/>
                        </a:defRPr>
                      </a:pPr>
                      <a:r>
                        <a:t>Heavy</a:t>
                      </a:r>
                    </a:p>
                  </a:txBody>
                  <a:tcPr anchor="ctr">
                    <a:solidFill>
                      <a:srgbClr val="1A1A2E"/>
                    </a:solidFill>
                  </a:tcPr>
                </a:tc>
                <a:tc>
                  <a:txBody>
                    <a:bodyPr/>
                    <a:lstStyle/>
                    <a:p>
                      <a:pPr algn="ctr">
                        <a:defRPr sz="1400" b="0">
                          <a:solidFill>
                            <a:srgbClr val="F0F0F0"/>
                          </a:solidFill>
                          <a:latin typeface="Segoe UI"/>
                        </a:defRPr>
                      </a:pPr>
                      <a:r>
                        <a:t>Heavy</a:t>
                      </a:r>
                    </a:p>
                  </a:txBody>
                  <a:tcPr anchor="ctr">
                    <a:solidFill>
                      <a:srgbClr val="1A1A2E"/>
                    </a:solidFill>
                  </a:tcPr>
                </a:tc>
                <a:tc>
                  <a:txBody>
                    <a:bodyPr/>
                    <a:lstStyle/>
                    <a:p>
                      <a:pPr algn="ctr">
                        <a:defRPr sz="1400" b="0">
                          <a:solidFill>
                            <a:srgbClr val="F0F0F0"/>
                          </a:solidFill>
                          <a:latin typeface="Segoe UI"/>
                        </a:defRPr>
                      </a:pPr>
                      <a:r>
                        <a:t>Medium</a:t>
                      </a:r>
                    </a:p>
                  </a:txBody>
                  <a:tcPr anchor="ctr">
                    <a:solidFill>
                      <a:srgbClr val="1A1A2E"/>
                    </a:solidFill>
                  </a:tcPr>
                </a:tc>
                <a:extLst>
                  <a:ext uri="{0D108BD9-81ED-4DB2-BD59-A6C34878D82A}">
                    <a16:rowId xmlns:a16="http://schemas.microsoft.com/office/drawing/2014/main" val="10001"/>
                  </a:ext>
                </a:extLst>
              </a:tr>
              <a:tr h="628650">
                <a:tc>
                  <a:txBody>
                    <a:bodyPr/>
                    <a:lstStyle/>
                    <a:p>
                      <a:pPr algn="ctr">
                        <a:defRPr sz="1400" b="0">
                          <a:solidFill>
                            <a:srgbClr val="F0F0F0"/>
                          </a:solidFill>
                          <a:latin typeface="Segoe UI"/>
                        </a:defRPr>
                      </a:pPr>
                      <a:r>
                        <a:t>Machinability</a:t>
                      </a:r>
                    </a:p>
                  </a:txBody>
                  <a:tcPr anchor="ctr">
                    <a:solidFill>
                      <a:srgbClr val="222238"/>
                    </a:solidFill>
                  </a:tcPr>
                </a:tc>
                <a:tc>
                  <a:txBody>
                    <a:bodyPr/>
                    <a:lstStyle/>
                    <a:p>
                      <a:pPr algn="ctr">
                        <a:defRPr sz="1400" b="0">
                          <a:solidFill>
                            <a:srgbClr val="F0F0F0"/>
                          </a:solidFill>
                          <a:latin typeface="Segoe UI"/>
                        </a:defRPr>
                      </a:pPr>
                      <a:r>
                        <a:t>Very Good</a:t>
                      </a:r>
                    </a:p>
                  </a:txBody>
                  <a:tcPr anchor="ctr">
                    <a:solidFill>
                      <a:srgbClr val="222238"/>
                    </a:solidFill>
                  </a:tcPr>
                </a:tc>
                <a:tc>
                  <a:txBody>
                    <a:bodyPr/>
                    <a:lstStyle/>
                    <a:p>
                      <a:pPr algn="ctr">
                        <a:defRPr sz="1400" b="0">
                          <a:solidFill>
                            <a:srgbClr val="F0F0F0"/>
                          </a:solidFill>
                          <a:latin typeface="Segoe UI"/>
                        </a:defRPr>
                      </a:pPr>
                      <a:r>
                        <a:t>Fair</a:t>
                      </a:r>
                    </a:p>
                  </a:txBody>
                  <a:tcPr anchor="ctr">
                    <a:solidFill>
                      <a:srgbClr val="222238"/>
                    </a:solidFill>
                  </a:tcPr>
                </a:tc>
                <a:tc>
                  <a:txBody>
                    <a:bodyPr/>
                    <a:lstStyle/>
                    <a:p>
                      <a:pPr algn="ctr">
                        <a:defRPr sz="1400" b="1">
                          <a:solidFill>
                            <a:srgbClr val="E2B714"/>
                          </a:solidFill>
                          <a:latin typeface="Segoe UI"/>
                        </a:defRPr>
                      </a:pPr>
                      <a:r>
                        <a:t>Outstanding</a:t>
                      </a:r>
                    </a:p>
                  </a:txBody>
                  <a:tcPr anchor="ctr">
                    <a:solidFill>
                      <a:srgbClr val="222238"/>
                    </a:solidFill>
                  </a:tcPr>
                </a:tc>
                <a:tc>
                  <a:txBody>
                    <a:bodyPr/>
                    <a:lstStyle/>
                    <a:p>
                      <a:pPr algn="ctr">
                        <a:defRPr sz="1400" b="0">
                          <a:solidFill>
                            <a:srgbClr val="F0F0F0"/>
                          </a:solidFill>
                          <a:latin typeface="Segoe UI"/>
                        </a:defRPr>
                      </a:pPr>
                      <a:r>
                        <a:t>Poor</a:t>
                      </a:r>
                    </a:p>
                  </a:txBody>
                  <a:tcPr anchor="ctr">
                    <a:solidFill>
                      <a:srgbClr val="222238"/>
                    </a:solidFill>
                  </a:tcPr>
                </a:tc>
                <a:extLst>
                  <a:ext uri="{0D108BD9-81ED-4DB2-BD59-A6C34878D82A}">
                    <a16:rowId xmlns:a16="http://schemas.microsoft.com/office/drawing/2014/main" val="10002"/>
                  </a:ext>
                </a:extLst>
              </a:tr>
              <a:tr h="628650">
                <a:tc>
                  <a:txBody>
                    <a:bodyPr/>
                    <a:lstStyle/>
                    <a:p>
                      <a:pPr algn="ctr">
                        <a:defRPr sz="1400" b="0">
                          <a:solidFill>
                            <a:srgbClr val="F0F0F0"/>
                          </a:solidFill>
                          <a:latin typeface="Segoe UI"/>
                        </a:defRPr>
                      </a:pPr>
                      <a:r>
                        <a:t>Weldability</a:t>
                      </a:r>
                    </a:p>
                  </a:txBody>
                  <a:tcPr anchor="ctr">
                    <a:solidFill>
                      <a:srgbClr val="1A1A2E"/>
                    </a:solidFill>
                  </a:tcPr>
                </a:tc>
                <a:tc>
                  <a:txBody>
                    <a:bodyPr/>
                    <a:lstStyle/>
                    <a:p>
                      <a:pPr algn="ctr">
                        <a:defRPr sz="1400" b="0">
                          <a:solidFill>
                            <a:srgbClr val="F0F0F0"/>
                          </a:solidFill>
                          <a:latin typeface="Segoe UI"/>
                        </a:defRPr>
                      </a:pPr>
                      <a:r>
                        <a:t>Moderate</a:t>
                      </a:r>
                    </a:p>
                  </a:txBody>
                  <a:tcPr anchor="ctr">
                    <a:solidFill>
                      <a:srgbClr val="1A1A2E"/>
                    </a:solidFill>
                  </a:tcPr>
                </a:tc>
                <a:tc>
                  <a:txBody>
                    <a:bodyPr/>
                    <a:lstStyle/>
                    <a:p>
                      <a:pPr algn="ctr">
                        <a:defRPr sz="1400" b="0">
                          <a:solidFill>
                            <a:srgbClr val="F0F0F0"/>
                          </a:solidFill>
                          <a:latin typeface="Segoe UI"/>
                        </a:defRPr>
                      </a:pPr>
                      <a:r>
                        <a:t>Solderable</a:t>
                      </a:r>
                    </a:p>
                  </a:txBody>
                  <a:tcPr anchor="ctr">
                    <a:solidFill>
                      <a:srgbClr val="1A1A2E"/>
                    </a:solidFill>
                  </a:tcPr>
                </a:tc>
                <a:tc>
                  <a:txBody>
                    <a:bodyPr/>
                    <a:lstStyle/>
                    <a:p>
                      <a:pPr algn="ctr">
                        <a:defRPr sz="1400" b="0">
                          <a:solidFill>
                            <a:srgbClr val="F0F0F0"/>
                          </a:solidFill>
                          <a:latin typeface="Segoe UI"/>
                        </a:defRPr>
                      </a:pPr>
                      <a:r>
                        <a:t>Solderable</a:t>
                      </a:r>
                    </a:p>
                  </a:txBody>
                  <a:tcPr anchor="ctr">
                    <a:solidFill>
                      <a:srgbClr val="1A1A2E"/>
                    </a:solidFill>
                  </a:tcPr>
                </a:tc>
                <a:tc>
                  <a:txBody>
                    <a:bodyPr/>
                    <a:lstStyle/>
                    <a:p>
                      <a:pPr algn="ctr">
                        <a:defRPr sz="1400" b="0">
                          <a:solidFill>
                            <a:srgbClr val="F0F0F0"/>
                          </a:solidFill>
                          <a:latin typeface="Segoe UI"/>
                        </a:defRPr>
                      </a:pPr>
                      <a:r>
                        <a:t>TIG only</a:t>
                      </a:r>
                    </a:p>
                  </a:txBody>
                  <a:tcPr anchor="ctr">
                    <a:solidFill>
                      <a:srgbClr val="1A1A2E"/>
                    </a:solidFill>
                  </a:tcPr>
                </a:tc>
                <a:extLst>
                  <a:ext uri="{0D108BD9-81ED-4DB2-BD59-A6C34878D82A}">
                    <a16:rowId xmlns:a16="http://schemas.microsoft.com/office/drawing/2014/main" val="10003"/>
                  </a:ext>
                </a:extLst>
              </a:tr>
              <a:tr h="628650">
                <a:tc>
                  <a:txBody>
                    <a:bodyPr/>
                    <a:lstStyle/>
                    <a:p>
                      <a:pPr algn="ctr">
                        <a:defRPr sz="1400" b="0">
                          <a:solidFill>
                            <a:srgbClr val="F0F0F0"/>
                          </a:solidFill>
                          <a:latin typeface="Segoe UI"/>
                        </a:defRPr>
                      </a:pPr>
                      <a:r>
                        <a:t>Corrosion</a:t>
                      </a:r>
                    </a:p>
                  </a:txBody>
                  <a:tcPr anchor="ctr">
                    <a:solidFill>
                      <a:srgbClr val="222238"/>
                    </a:solidFill>
                  </a:tcPr>
                </a:tc>
                <a:tc>
                  <a:txBody>
                    <a:bodyPr/>
                    <a:lstStyle/>
                    <a:p>
                      <a:pPr algn="ctr">
                        <a:defRPr sz="1400" b="0">
                          <a:solidFill>
                            <a:srgbClr val="F0F0F0"/>
                          </a:solidFill>
                          <a:latin typeface="Segoe UI"/>
                        </a:defRPr>
                      </a:pPr>
                      <a:r>
                        <a:t>Resistant</a:t>
                      </a:r>
                    </a:p>
                  </a:txBody>
                  <a:tcPr anchor="ctr">
                    <a:solidFill>
                      <a:srgbClr val="222238"/>
                    </a:solidFill>
                  </a:tcPr>
                </a:tc>
                <a:tc>
                  <a:txBody>
                    <a:bodyPr/>
                    <a:lstStyle/>
                    <a:p>
                      <a:pPr algn="ctr">
                        <a:defRPr sz="1400" b="0">
                          <a:solidFill>
                            <a:srgbClr val="F0F0F0"/>
                          </a:solidFill>
                          <a:latin typeface="Segoe UI"/>
                        </a:defRPr>
                      </a:pPr>
                      <a:r>
                        <a:t>Patina</a:t>
                      </a:r>
                    </a:p>
                  </a:txBody>
                  <a:tcPr anchor="ctr">
                    <a:solidFill>
                      <a:srgbClr val="222238"/>
                    </a:solidFill>
                  </a:tcPr>
                </a:tc>
                <a:tc>
                  <a:txBody>
                    <a:bodyPr/>
                    <a:lstStyle/>
                    <a:p>
                      <a:pPr algn="ctr">
                        <a:defRPr sz="1400" b="0">
                          <a:solidFill>
                            <a:srgbClr val="F0F0F0"/>
                          </a:solidFill>
                          <a:latin typeface="Segoe UI"/>
                        </a:defRPr>
                      </a:pPr>
                      <a:r>
                        <a:t>Resistant</a:t>
                      </a:r>
                    </a:p>
                  </a:txBody>
                  <a:tcPr anchor="ctr">
                    <a:solidFill>
                      <a:srgbClr val="222238"/>
                    </a:solidFill>
                  </a:tcPr>
                </a:tc>
                <a:tc>
                  <a:txBody>
                    <a:bodyPr/>
                    <a:lstStyle/>
                    <a:p>
                      <a:pPr algn="ctr">
                        <a:defRPr sz="1400" b="1">
                          <a:solidFill>
                            <a:srgbClr val="E2B714"/>
                          </a:solidFill>
                          <a:latin typeface="Segoe UI"/>
                        </a:defRPr>
                      </a:pPr>
                      <a:r>
                        <a:t>Exceptional</a:t>
                      </a:r>
                    </a:p>
                  </a:txBody>
                  <a:tcPr anchor="ctr">
                    <a:solidFill>
                      <a:srgbClr val="222238"/>
                    </a:solidFill>
                  </a:tcPr>
                </a:tc>
                <a:extLst>
                  <a:ext uri="{0D108BD9-81ED-4DB2-BD59-A6C34878D82A}">
                    <a16:rowId xmlns:a16="http://schemas.microsoft.com/office/drawing/2014/main" val="10004"/>
                  </a:ext>
                </a:extLst>
              </a:tr>
              <a:tr h="628650">
                <a:tc>
                  <a:txBody>
                    <a:bodyPr/>
                    <a:lstStyle/>
                    <a:p>
                      <a:pPr algn="ctr">
                        <a:defRPr sz="1400" b="0">
                          <a:solidFill>
                            <a:srgbClr val="F0F0F0"/>
                          </a:solidFill>
                          <a:latin typeface="Segoe UI"/>
                        </a:defRPr>
                      </a:pPr>
                      <a:r>
                        <a:t>Magnetic?</a:t>
                      </a:r>
                    </a:p>
                  </a:txBody>
                  <a:tcPr anchor="ctr">
                    <a:solidFill>
                      <a:srgbClr val="1A1A2E"/>
                    </a:solidFill>
                  </a:tcPr>
                </a:tc>
                <a:tc>
                  <a:txBody>
                    <a:bodyPr/>
                    <a:lstStyle/>
                    <a:p>
                      <a:pPr algn="ctr">
                        <a:defRPr sz="1400" b="0">
                          <a:solidFill>
                            <a:srgbClr val="F0F0F0"/>
                          </a:solidFill>
                          <a:latin typeface="Segoe UI"/>
                        </a:defRPr>
                      </a:pPr>
                      <a:r>
                        <a:t>No</a:t>
                      </a:r>
                    </a:p>
                  </a:txBody>
                  <a:tcPr anchor="ctr">
                    <a:solidFill>
                      <a:srgbClr val="1A1A2E"/>
                    </a:solidFill>
                  </a:tcPr>
                </a:tc>
                <a:tc>
                  <a:txBody>
                    <a:bodyPr/>
                    <a:lstStyle/>
                    <a:p>
                      <a:pPr algn="ctr">
                        <a:defRPr sz="1400" b="0">
                          <a:solidFill>
                            <a:srgbClr val="F0F0F0"/>
                          </a:solidFill>
                          <a:latin typeface="Segoe UI"/>
                        </a:defRPr>
                      </a:pPr>
                      <a:r>
                        <a:t>No</a:t>
                      </a:r>
                    </a:p>
                  </a:txBody>
                  <a:tcPr anchor="ctr">
                    <a:solidFill>
                      <a:srgbClr val="1A1A2E"/>
                    </a:solidFill>
                  </a:tcPr>
                </a:tc>
                <a:tc>
                  <a:txBody>
                    <a:bodyPr/>
                    <a:lstStyle/>
                    <a:p>
                      <a:pPr algn="ctr">
                        <a:defRPr sz="1400" b="0">
                          <a:solidFill>
                            <a:srgbClr val="F0F0F0"/>
                          </a:solidFill>
                          <a:latin typeface="Segoe UI"/>
                        </a:defRPr>
                      </a:pPr>
                      <a:r>
                        <a:t>No</a:t>
                      </a:r>
                    </a:p>
                  </a:txBody>
                  <a:tcPr anchor="ctr">
                    <a:solidFill>
                      <a:srgbClr val="1A1A2E"/>
                    </a:solidFill>
                  </a:tcPr>
                </a:tc>
                <a:tc>
                  <a:txBody>
                    <a:bodyPr/>
                    <a:lstStyle/>
                    <a:p>
                      <a:pPr algn="ctr">
                        <a:defRPr sz="1400" b="0">
                          <a:solidFill>
                            <a:srgbClr val="F0F0F0"/>
                          </a:solidFill>
                          <a:latin typeface="Segoe UI"/>
                        </a:defRPr>
                      </a:pPr>
                      <a:r>
                        <a:t>No</a:t>
                      </a:r>
                    </a:p>
                  </a:txBody>
                  <a:tcPr anchor="ctr">
                    <a:solidFill>
                      <a:srgbClr val="1A1A2E"/>
                    </a:solidFill>
                  </a:tcPr>
                </a:tc>
                <a:extLst>
                  <a:ext uri="{0D108BD9-81ED-4DB2-BD59-A6C34878D82A}">
                    <a16:rowId xmlns:a16="http://schemas.microsoft.com/office/drawing/2014/main" val="10005"/>
                  </a:ext>
                </a:extLst>
              </a:tr>
              <a:tr h="628650">
                <a:tc>
                  <a:txBody>
                    <a:bodyPr/>
                    <a:lstStyle/>
                    <a:p>
                      <a:pPr algn="ctr">
                        <a:defRPr sz="1400" b="0">
                          <a:solidFill>
                            <a:srgbClr val="F0F0F0"/>
                          </a:solidFill>
                          <a:latin typeface="Segoe UI"/>
                        </a:defRPr>
                      </a:pPr>
                      <a:r>
                        <a:t>Special</a:t>
                      </a:r>
                    </a:p>
                  </a:txBody>
                  <a:tcPr anchor="ctr">
                    <a:solidFill>
                      <a:srgbClr val="222238"/>
                    </a:solidFill>
                  </a:tcPr>
                </a:tc>
                <a:tc>
                  <a:txBody>
                    <a:bodyPr/>
                    <a:lstStyle/>
                    <a:p>
                      <a:pPr algn="ctr">
                        <a:defRPr sz="1400" b="1">
                          <a:solidFill>
                            <a:srgbClr val="E2B714"/>
                          </a:solidFill>
                          <a:latin typeface="Segoe UI"/>
                        </a:defRPr>
                      </a:pPr>
                      <a:r>
                        <a:t>1/3 weight</a:t>
                      </a:r>
                    </a:p>
                  </a:txBody>
                  <a:tcPr anchor="ctr">
                    <a:solidFill>
                      <a:srgbClr val="222238"/>
                    </a:solidFill>
                  </a:tcPr>
                </a:tc>
                <a:tc>
                  <a:txBody>
                    <a:bodyPr/>
                    <a:lstStyle/>
                    <a:p>
                      <a:pPr algn="ctr">
                        <a:defRPr sz="1400" b="1">
                          <a:solidFill>
                            <a:srgbClr val="E2B714"/>
                          </a:solidFill>
                          <a:latin typeface="Segoe UI"/>
                        </a:defRPr>
                      </a:pPr>
                      <a:r>
                        <a:t>Best conductor</a:t>
                      </a:r>
                    </a:p>
                  </a:txBody>
                  <a:tcPr anchor="ctr">
                    <a:solidFill>
                      <a:srgbClr val="222238"/>
                    </a:solidFill>
                  </a:tcPr>
                </a:tc>
                <a:tc>
                  <a:txBody>
                    <a:bodyPr/>
                    <a:lstStyle/>
                    <a:p>
                      <a:pPr algn="ctr">
                        <a:defRPr sz="1400" b="1">
                          <a:solidFill>
                            <a:srgbClr val="E2B714"/>
                          </a:solidFill>
                          <a:latin typeface="Segoe UI"/>
                        </a:defRPr>
                      </a:pPr>
                      <a:r>
                        <a:t>Non-sparking</a:t>
                      </a:r>
                    </a:p>
                  </a:txBody>
                  <a:tcPr anchor="ctr">
                    <a:solidFill>
                      <a:srgbClr val="222238"/>
                    </a:solidFill>
                  </a:tcPr>
                </a:tc>
                <a:tc>
                  <a:txBody>
                    <a:bodyPr/>
                    <a:lstStyle/>
                    <a:p>
                      <a:pPr algn="ctr">
                        <a:defRPr sz="1400" b="1">
                          <a:solidFill>
                            <a:srgbClr val="E2B714"/>
                          </a:solidFill>
                          <a:latin typeface="Segoe UI"/>
                        </a:defRPr>
                      </a:pPr>
                      <a:r>
                        <a:t>Strength/weight</a:t>
                      </a:r>
                    </a:p>
                  </a:txBody>
                  <a:tcPr anchor="ctr">
                    <a:solidFill>
                      <a:srgbClr val="222238"/>
                    </a:solidFill>
                  </a:tcPr>
                </a:tc>
                <a:extLst>
                  <a:ext uri="{0D108BD9-81ED-4DB2-BD59-A6C34878D82A}">
                    <a16:rowId xmlns:a16="http://schemas.microsoft.com/office/drawing/2014/main" val="10006"/>
                  </a:ext>
                </a:extLst>
              </a:tr>
              <a:tr h="628650">
                <a:tc>
                  <a:txBody>
                    <a:bodyPr/>
                    <a:lstStyle/>
                    <a:p>
                      <a:pPr algn="ctr">
                        <a:defRPr sz="1400" b="0">
                          <a:solidFill>
                            <a:srgbClr val="F0F0F0"/>
                          </a:solidFill>
                          <a:latin typeface="Segoe UI"/>
                        </a:defRPr>
                      </a:pPr>
                      <a:r>
                        <a:t>Relative Cost</a:t>
                      </a:r>
                    </a:p>
                  </a:txBody>
                  <a:tcPr anchor="ctr">
                    <a:solidFill>
                      <a:srgbClr val="1A1A2E"/>
                    </a:solidFill>
                  </a:tcPr>
                </a:tc>
                <a:tc>
                  <a:txBody>
                    <a:bodyPr/>
                    <a:lstStyle/>
                    <a:p>
                      <a:pPr algn="ctr">
                        <a:defRPr sz="1400" b="0">
                          <a:solidFill>
                            <a:srgbClr val="F0F0F0"/>
                          </a:solidFill>
                          <a:latin typeface="Segoe UI"/>
                        </a:defRPr>
                      </a:pPr>
                      <a:r>
                        <a:t>$$</a:t>
                      </a:r>
                    </a:p>
                  </a:txBody>
                  <a:tcPr anchor="ctr">
                    <a:solidFill>
                      <a:srgbClr val="1A1A2E"/>
                    </a:solidFill>
                  </a:tcPr>
                </a:tc>
                <a:tc>
                  <a:txBody>
                    <a:bodyPr/>
                    <a:lstStyle/>
                    <a:p>
                      <a:pPr algn="ctr">
                        <a:defRPr sz="1400" b="0">
                          <a:solidFill>
                            <a:srgbClr val="F0F0F0"/>
                          </a:solidFill>
                          <a:latin typeface="Segoe UI"/>
                        </a:defRPr>
                      </a:pPr>
                      <a:r>
                        <a:t>$$$</a:t>
                      </a:r>
                    </a:p>
                  </a:txBody>
                  <a:tcPr anchor="ctr">
                    <a:solidFill>
                      <a:srgbClr val="1A1A2E"/>
                    </a:solidFill>
                  </a:tcPr>
                </a:tc>
                <a:tc>
                  <a:txBody>
                    <a:bodyPr/>
                    <a:lstStyle/>
                    <a:p>
                      <a:pPr algn="ctr">
                        <a:defRPr sz="1400" b="0">
                          <a:solidFill>
                            <a:srgbClr val="F0F0F0"/>
                          </a:solidFill>
                          <a:latin typeface="Segoe UI"/>
                        </a:defRPr>
                      </a:pPr>
                      <a:r>
                        <a:t>$$</a:t>
                      </a:r>
                    </a:p>
                  </a:txBody>
                  <a:tcPr anchor="ctr">
                    <a:solidFill>
                      <a:srgbClr val="1A1A2E"/>
                    </a:solidFill>
                  </a:tcPr>
                </a:tc>
                <a:tc>
                  <a:txBody>
                    <a:bodyPr/>
                    <a:lstStyle/>
                    <a:p>
                      <a:pPr algn="ctr">
                        <a:defRPr sz="1400" b="1">
                          <a:solidFill>
                            <a:srgbClr val="E2B714"/>
                          </a:solidFill>
                          <a:latin typeface="Segoe UI"/>
                        </a:defRPr>
                      </a:pPr>
                      <a:r>
                        <a:t>$$$$</a:t>
                      </a:r>
                    </a:p>
                  </a:txBody>
                  <a:tcPr anchor="ctr">
                    <a:solidFill>
                      <a:srgbClr val="1A1A2E"/>
                    </a:solidFill>
                  </a:tcPr>
                </a:tc>
                <a:extLst>
                  <a:ext uri="{0D108BD9-81ED-4DB2-BD59-A6C34878D82A}">
                    <a16:rowId xmlns:a16="http://schemas.microsoft.com/office/drawing/2014/main" val="10007"/>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787</TotalTime>
  <Words>5137</Words>
  <Application>Microsoft Macintosh PowerPoint</Application>
  <PresentationFormat>Widescreen</PresentationFormat>
  <Paragraphs>616</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McAteer, Andy</cp:lastModifiedBy>
  <cp:revision>2</cp:revision>
  <dcterms:created xsi:type="dcterms:W3CDTF">2013-01-27T09:14:16Z</dcterms:created>
  <dcterms:modified xsi:type="dcterms:W3CDTF">2026-02-25T04:03:56Z</dcterms:modified>
  <cp:category/>
</cp:coreProperties>
</file>